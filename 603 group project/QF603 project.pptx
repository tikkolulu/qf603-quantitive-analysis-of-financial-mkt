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0F507F9-678D-4001-AFCF-B320A586C72B}">
  <a:tblStyle styleId="{20F507F9-678D-4001-AFCF-B320A586C72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4.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Roboto-boldItalic.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10fb19f32a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10fb19f32a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560229d70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560229d70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10fb19f32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10fb19f32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d560229d70_5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d560229d70_5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10fb19f32a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10fb19f32a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10fb19f32a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10fb19f32a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10fb19f32a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10fb19f32a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d560229d70_7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d560229d70_7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126a7355c8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126a7355c8_1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10fb19f32a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10fb19f32a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d55ee2d85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d55ee2d85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d55ee2d858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d55ee2d858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d55ee2d858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d55ee2d858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d55ee2d858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d55ee2d858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55ee2d858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55ee2d858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d560229d70_2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d560229d70_2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d560229d70_2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d560229d70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03a49093bc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03a49093bc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d560229d70_2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d560229d70_2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d560229d70_2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d560229d70_2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03a49093b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03a49093b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d560229d70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d560229d70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d560229d70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d560229d70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d560229d70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d560229d70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d560229d70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d560229d70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d560229d70_7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d560229d70_7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2d560229d70_7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2d560229d70_7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d560229d70_7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d560229d70_7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d560229d70_7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d560229d70_7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d560229d70_7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d560229d70_7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d560229d70_7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d560229d70_7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03a49093b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03a49093b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10fb19f32a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310fb19f32a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0.png"/><Relationship Id="rId9"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1.png"/><Relationship Id="rId8"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26.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3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1.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3.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4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4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49.png"/><Relationship Id="rId5" Type="http://schemas.openxmlformats.org/officeDocument/2006/relationships/image" Target="../media/image51.png"/><Relationship Id="rId6"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30.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38.png"/><Relationship Id="rId5"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png"/><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image" Target="../media/image43.png"/><Relationship Id="rId5" Type="http://schemas.openxmlformats.org/officeDocument/2006/relationships/image" Target="../media/image4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0" y="0"/>
            <a:ext cx="9144000" cy="5143500"/>
          </a:xfrm>
          <a:prstGeom prst="rect">
            <a:avLst/>
          </a:prstGeom>
          <a:noFill/>
          <a:ln>
            <a:noFill/>
          </a:ln>
        </p:spPr>
      </p:pic>
      <p:sp>
        <p:nvSpPr>
          <p:cNvPr id="55" name="Google Shape;55;p13"/>
          <p:cNvSpPr txBox="1"/>
          <p:nvPr>
            <p:ph idx="1" type="body"/>
          </p:nvPr>
        </p:nvSpPr>
        <p:spPr>
          <a:xfrm>
            <a:off x="76775" y="1799800"/>
            <a:ext cx="8820000" cy="13287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GB" sz="2700"/>
              <a:t>603-Quantitative Analysis of Financial Markets Project Presentation</a:t>
            </a:r>
            <a:endParaRPr sz="2700"/>
          </a:p>
        </p:txBody>
      </p:sp>
      <p:sp>
        <p:nvSpPr>
          <p:cNvPr id="56" name="Google Shape;56;p13"/>
          <p:cNvSpPr txBox="1"/>
          <p:nvPr>
            <p:ph idx="1" type="body"/>
          </p:nvPr>
        </p:nvSpPr>
        <p:spPr>
          <a:xfrm>
            <a:off x="1646375" y="3320375"/>
            <a:ext cx="5680800" cy="923100"/>
          </a:xfrm>
          <a:prstGeom prst="rect">
            <a:avLst/>
          </a:prstGeom>
        </p:spPr>
        <p:txBody>
          <a:bodyPr anchorCtr="0" anchor="t" bIns="91425" lIns="91425" spcFirstLastPara="1" rIns="91425" wrap="square" tIns="91425">
            <a:noAutofit/>
          </a:bodyPr>
          <a:lstStyle/>
          <a:p>
            <a:pPr indent="0" lvl="0" marL="0" rtl="0" algn="l">
              <a:lnSpc>
                <a:spcPct val="60000"/>
              </a:lnSpc>
              <a:spcBef>
                <a:spcPts val="0"/>
              </a:spcBef>
              <a:spcAft>
                <a:spcPts val="0"/>
              </a:spcAft>
              <a:buSzPts val="725"/>
              <a:buNone/>
            </a:pPr>
            <a:r>
              <a:rPr lang="en-GB" sz="1636">
                <a:solidFill>
                  <a:srgbClr val="000000"/>
                </a:solidFill>
              </a:rPr>
              <a:t>Group 9：</a:t>
            </a:r>
            <a:r>
              <a:rPr lang="en-GB" sz="1536">
                <a:solidFill>
                  <a:schemeClr val="dk1"/>
                </a:solidFill>
              </a:rPr>
              <a:t>Ruoyao LI, Sinuan LI, Tingjia LU, Yang HONG,</a:t>
            </a:r>
            <a:endParaRPr sz="1536">
              <a:solidFill>
                <a:schemeClr val="dk1"/>
              </a:solidFill>
            </a:endParaRPr>
          </a:p>
          <a:p>
            <a:pPr indent="0" lvl="0" marL="0" rtl="0" algn="l">
              <a:lnSpc>
                <a:spcPct val="60000"/>
              </a:lnSpc>
              <a:spcBef>
                <a:spcPts val="0"/>
              </a:spcBef>
              <a:spcAft>
                <a:spcPts val="0"/>
              </a:spcAft>
              <a:buSzPts val="725"/>
              <a:buNone/>
            </a:pPr>
            <a:r>
              <a:t/>
            </a:r>
            <a:endParaRPr sz="1536">
              <a:solidFill>
                <a:schemeClr val="dk1"/>
              </a:solidFill>
            </a:endParaRPr>
          </a:p>
          <a:p>
            <a:pPr indent="0" lvl="0" marL="0" rtl="0" algn="l">
              <a:lnSpc>
                <a:spcPct val="60000"/>
              </a:lnSpc>
              <a:spcBef>
                <a:spcPts val="0"/>
              </a:spcBef>
              <a:spcAft>
                <a:spcPts val="0"/>
              </a:spcAft>
              <a:buSzPts val="725"/>
              <a:buNone/>
            </a:pPr>
            <a:r>
              <a:rPr lang="en-GB" sz="1536">
                <a:solidFill>
                  <a:schemeClr val="dk1"/>
                </a:solidFill>
              </a:rPr>
              <a:t>         Yonghan ZHANG, Zuoyu XIE, Anirudh Krishnan</a:t>
            </a:r>
            <a:endParaRPr sz="1536">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idx="1" type="body"/>
          </p:nvPr>
        </p:nvSpPr>
        <p:spPr>
          <a:xfrm>
            <a:off x="311700" y="660175"/>
            <a:ext cx="8786400" cy="4412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b="1" lang="en-GB" sz="5930">
                <a:solidFill>
                  <a:srgbClr val="111A18"/>
                </a:solidFill>
                <a:highlight>
                  <a:schemeClr val="lt1"/>
                </a:highlight>
                <a:latin typeface="Roboto"/>
                <a:ea typeface="Roboto"/>
                <a:cs typeface="Roboto"/>
                <a:sym typeface="Roboto"/>
              </a:rPr>
              <a:t>Objective: </a:t>
            </a:r>
            <a:r>
              <a:rPr lang="en-GB" sz="5930">
                <a:solidFill>
                  <a:srgbClr val="111A18"/>
                </a:solidFill>
                <a:highlight>
                  <a:schemeClr val="lt1"/>
                </a:highlight>
                <a:latin typeface="Roboto"/>
                <a:ea typeface="Roboto"/>
                <a:cs typeface="Roboto"/>
                <a:sym typeface="Roboto"/>
              </a:rPr>
              <a:t>Forecast liquidity risk for banks by predicting </a:t>
            </a:r>
            <a:r>
              <a:rPr lang="en-GB" sz="5930" u="sng">
                <a:solidFill>
                  <a:srgbClr val="111A18"/>
                </a:solidFill>
                <a:highlight>
                  <a:schemeClr val="lt1"/>
                </a:highlight>
                <a:latin typeface="Roboto"/>
                <a:ea typeface="Roboto"/>
                <a:cs typeface="Roboto"/>
                <a:sym typeface="Roboto"/>
              </a:rPr>
              <a:t>“Total Loans to Total Deposits”</a:t>
            </a:r>
            <a:r>
              <a:rPr lang="en-GB" sz="5930">
                <a:solidFill>
                  <a:srgbClr val="111A18"/>
                </a:solidFill>
                <a:highlight>
                  <a:schemeClr val="lt1"/>
                </a:highlight>
                <a:latin typeface="Roboto"/>
                <a:ea typeface="Roboto"/>
                <a:cs typeface="Roboto"/>
                <a:sym typeface="Roboto"/>
              </a:rPr>
              <a:t> ratio to </a:t>
            </a:r>
            <a:r>
              <a:rPr lang="en-GB" sz="5930">
                <a:solidFill>
                  <a:srgbClr val="111A18"/>
                </a:solidFill>
                <a:highlight>
                  <a:schemeClr val="lt1"/>
                </a:highlight>
                <a:latin typeface="Roboto"/>
                <a:ea typeface="Roboto"/>
                <a:cs typeface="Roboto"/>
                <a:sym typeface="Roboto"/>
              </a:rPr>
              <a:t>assess</a:t>
            </a:r>
            <a:r>
              <a:rPr lang="en-GB" sz="5930">
                <a:solidFill>
                  <a:srgbClr val="111A18"/>
                </a:solidFill>
                <a:highlight>
                  <a:schemeClr val="lt1"/>
                </a:highlight>
                <a:latin typeface="Roboto"/>
                <a:ea typeface="Roboto"/>
                <a:cs typeface="Roboto"/>
                <a:sym typeface="Roboto"/>
              </a:rPr>
              <a:t> and manage bank’s liquidity risk effectively. Our analysis was done for multiple banks both small and large, but will focus more on FRCB (First </a:t>
            </a:r>
            <a:r>
              <a:rPr lang="en-GB" sz="5930">
                <a:solidFill>
                  <a:srgbClr val="111A18"/>
                </a:solidFill>
                <a:highlight>
                  <a:schemeClr val="lt1"/>
                </a:highlight>
                <a:latin typeface="Roboto"/>
                <a:ea typeface="Roboto"/>
                <a:cs typeface="Roboto"/>
                <a:sym typeface="Roboto"/>
              </a:rPr>
              <a:t>Republic</a:t>
            </a:r>
            <a:r>
              <a:rPr lang="en-GB" sz="5930">
                <a:solidFill>
                  <a:srgbClr val="111A18"/>
                </a:solidFill>
                <a:highlight>
                  <a:schemeClr val="lt1"/>
                </a:highlight>
                <a:latin typeface="Roboto"/>
                <a:ea typeface="Roboto"/>
                <a:cs typeface="Roboto"/>
                <a:sym typeface="Roboto"/>
              </a:rPr>
              <a:t> Bank) which went bankrupt in May 1 (Q2) 2023.</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b="1" lang="en-GB" sz="5192">
                <a:solidFill>
                  <a:srgbClr val="111A18"/>
                </a:solidFill>
                <a:highlight>
                  <a:schemeClr val="lt1"/>
                </a:highlight>
                <a:latin typeface="Roboto"/>
                <a:ea typeface="Roboto"/>
                <a:cs typeface="Roboto"/>
                <a:sym typeface="Roboto"/>
              </a:rPr>
              <a:t>Why Forecast this measure?</a:t>
            </a:r>
            <a:endParaRPr b="1" sz="5192">
              <a:solidFill>
                <a:srgbClr val="111A18"/>
              </a:solidFill>
              <a:highlight>
                <a:schemeClr val="lt1"/>
              </a:highlight>
              <a:latin typeface="Roboto"/>
              <a:ea typeface="Roboto"/>
              <a:cs typeface="Roboto"/>
              <a:sym typeface="Roboto"/>
            </a:endParaRPr>
          </a:p>
          <a:p>
            <a:pPr indent="-311027" lvl="0" marL="457200" rtl="0" algn="l">
              <a:spcBef>
                <a:spcPts val="1200"/>
              </a:spcBef>
              <a:spcAft>
                <a:spcPts val="0"/>
              </a:spcAft>
              <a:buClr>
                <a:srgbClr val="111A18"/>
              </a:buClr>
              <a:buSzPct val="100000"/>
              <a:buFont typeface="Roboto"/>
              <a:buChar char="●"/>
            </a:pPr>
            <a:r>
              <a:rPr lang="en-GB" sz="5192">
                <a:solidFill>
                  <a:srgbClr val="111A18"/>
                </a:solidFill>
                <a:highlight>
                  <a:schemeClr val="lt1"/>
                </a:highlight>
                <a:latin typeface="Roboto"/>
                <a:ea typeface="Roboto"/>
                <a:cs typeface="Roboto"/>
                <a:sym typeface="Roboto"/>
              </a:rPr>
              <a:t>Critical Liquidity Health Indicator</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lang="en-GB" sz="5192">
                <a:solidFill>
                  <a:srgbClr val="111A18"/>
                </a:solidFill>
                <a:highlight>
                  <a:schemeClr val="lt1"/>
                </a:highlight>
                <a:latin typeface="Roboto"/>
                <a:ea typeface="Roboto"/>
                <a:cs typeface="Roboto"/>
                <a:sym typeface="Roboto"/>
              </a:rPr>
              <a:t>Early Warning Signal</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lang="en-GB" sz="5192">
                <a:solidFill>
                  <a:srgbClr val="111A18"/>
                </a:solidFill>
                <a:highlight>
                  <a:schemeClr val="lt1"/>
                </a:highlight>
                <a:latin typeface="Roboto"/>
                <a:ea typeface="Roboto"/>
                <a:cs typeface="Roboto"/>
                <a:sym typeface="Roboto"/>
              </a:rPr>
              <a:t>Regulatory Benchmark</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lang="en-GB" sz="5192">
                <a:solidFill>
                  <a:srgbClr val="111A18"/>
                </a:solidFill>
                <a:highlight>
                  <a:schemeClr val="lt1"/>
                </a:highlight>
                <a:latin typeface="Roboto"/>
                <a:ea typeface="Roboto"/>
                <a:cs typeface="Roboto"/>
                <a:sym typeface="Roboto"/>
              </a:rPr>
              <a:t>Comprehensive Measure</a:t>
            </a:r>
            <a:endParaRPr sz="5192">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b="1" lang="en-GB" sz="5192">
                <a:solidFill>
                  <a:srgbClr val="111A18"/>
                </a:solidFill>
                <a:highlight>
                  <a:schemeClr val="lt1"/>
                </a:highlight>
                <a:latin typeface="Roboto"/>
                <a:ea typeface="Roboto"/>
                <a:cs typeface="Roboto"/>
                <a:sym typeface="Roboto"/>
              </a:rPr>
              <a:t>Models for Forecasting?</a:t>
            </a:r>
            <a:endParaRPr b="1" sz="5192">
              <a:solidFill>
                <a:srgbClr val="111A18"/>
              </a:solidFill>
              <a:highlight>
                <a:schemeClr val="lt1"/>
              </a:highlight>
              <a:latin typeface="Roboto"/>
              <a:ea typeface="Roboto"/>
              <a:cs typeface="Roboto"/>
              <a:sym typeface="Roboto"/>
            </a:endParaRPr>
          </a:p>
          <a:p>
            <a:pPr indent="-311027" lvl="0" marL="457200" rtl="0" algn="l">
              <a:spcBef>
                <a:spcPts val="1200"/>
              </a:spcBef>
              <a:spcAft>
                <a:spcPts val="0"/>
              </a:spcAft>
              <a:buClr>
                <a:srgbClr val="111A18"/>
              </a:buClr>
              <a:buSzPct val="100000"/>
              <a:buFont typeface="Roboto"/>
              <a:buChar char="●"/>
            </a:pPr>
            <a:r>
              <a:rPr b="1" lang="en-GB" sz="5192">
                <a:solidFill>
                  <a:srgbClr val="111A18"/>
                </a:solidFill>
                <a:highlight>
                  <a:schemeClr val="lt1"/>
                </a:highlight>
                <a:latin typeface="Roboto"/>
                <a:ea typeface="Roboto"/>
                <a:cs typeface="Roboto"/>
                <a:sym typeface="Roboto"/>
              </a:rPr>
              <a:t>OLS:</a:t>
            </a:r>
            <a:r>
              <a:rPr lang="en-GB" sz="5192">
                <a:solidFill>
                  <a:srgbClr val="111A18"/>
                </a:solidFill>
                <a:highlight>
                  <a:schemeClr val="lt1"/>
                </a:highlight>
                <a:latin typeface="Roboto"/>
                <a:ea typeface="Roboto"/>
                <a:cs typeface="Roboto"/>
                <a:sym typeface="Roboto"/>
              </a:rPr>
              <a:t> Baseline model to capture predictor relationships</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b="1" lang="en-GB" sz="5192">
                <a:solidFill>
                  <a:srgbClr val="111A18"/>
                </a:solidFill>
                <a:highlight>
                  <a:schemeClr val="lt1"/>
                </a:highlight>
                <a:latin typeface="Roboto"/>
                <a:ea typeface="Roboto"/>
                <a:cs typeface="Roboto"/>
                <a:sym typeface="Roboto"/>
              </a:rPr>
              <a:t>ARIMA:</a:t>
            </a:r>
            <a:r>
              <a:rPr lang="en-GB" sz="5192">
                <a:solidFill>
                  <a:srgbClr val="111A18"/>
                </a:solidFill>
                <a:highlight>
                  <a:schemeClr val="lt1"/>
                </a:highlight>
                <a:latin typeface="Roboto"/>
                <a:ea typeface="Roboto"/>
                <a:cs typeface="Roboto"/>
                <a:sym typeface="Roboto"/>
              </a:rPr>
              <a:t> Models temporal trends in the liquidity indicator</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b="1" lang="en-GB" sz="5192">
                <a:solidFill>
                  <a:srgbClr val="111A18"/>
                </a:solidFill>
                <a:highlight>
                  <a:schemeClr val="lt1"/>
                </a:highlight>
                <a:latin typeface="Roboto"/>
                <a:ea typeface="Roboto"/>
                <a:cs typeface="Roboto"/>
                <a:sym typeface="Roboto"/>
              </a:rPr>
              <a:t>VAR:</a:t>
            </a:r>
            <a:r>
              <a:rPr lang="en-GB" sz="5192">
                <a:solidFill>
                  <a:srgbClr val="111A18"/>
                </a:solidFill>
                <a:highlight>
                  <a:schemeClr val="lt1"/>
                </a:highlight>
                <a:latin typeface="Roboto"/>
                <a:ea typeface="Roboto"/>
                <a:cs typeface="Roboto"/>
                <a:sym typeface="Roboto"/>
              </a:rPr>
              <a:t> Captures interdependencies among predictors</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b="1" lang="en-GB" sz="5192">
                <a:solidFill>
                  <a:srgbClr val="111A18"/>
                </a:solidFill>
                <a:highlight>
                  <a:schemeClr val="lt1"/>
                </a:highlight>
                <a:latin typeface="Roboto"/>
                <a:ea typeface="Roboto"/>
                <a:cs typeface="Roboto"/>
                <a:sym typeface="Roboto"/>
              </a:rPr>
              <a:t>VECM:</a:t>
            </a:r>
            <a:r>
              <a:rPr lang="en-GB" sz="5192">
                <a:solidFill>
                  <a:srgbClr val="111A18"/>
                </a:solidFill>
                <a:highlight>
                  <a:schemeClr val="lt1"/>
                </a:highlight>
                <a:latin typeface="Roboto"/>
                <a:ea typeface="Roboto"/>
                <a:cs typeface="Roboto"/>
                <a:sym typeface="Roboto"/>
              </a:rPr>
              <a:t> Accounts for long-term equilibrium relationships</a:t>
            </a:r>
            <a:endParaRPr b="1" sz="5192">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b="1" lang="en-GB" sz="5192">
                <a:solidFill>
                  <a:srgbClr val="111A18"/>
                </a:solidFill>
                <a:highlight>
                  <a:schemeClr val="lt1"/>
                </a:highlight>
                <a:latin typeface="Roboto"/>
                <a:ea typeface="Roboto"/>
                <a:cs typeface="Roboto"/>
                <a:sym typeface="Roboto"/>
              </a:rPr>
              <a:t>Why these Models?</a:t>
            </a:r>
            <a:endParaRPr b="1" sz="5192">
              <a:solidFill>
                <a:srgbClr val="111A18"/>
              </a:solidFill>
              <a:highlight>
                <a:schemeClr val="lt1"/>
              </a:highlight>
              <a:latin typeface="Roboto"/>
              <a:ea typeface="Roboto"/>
              <a:cs typeface="Roboto"/>
              <a:sym typeface="Roboto"/>
            </a:endParaRPr>
          </a:p>
          <a:p>
            <a:pPr indent="-311027" lvl="0" marL="457200" rtl="0" algn="l">
              <a:spcBef>
                <a:spcPts val="1200"/>
              </a:spcBef>
              <a:spcAft>
                <a:spcPts val="0"/>
              </a:spcAft>
              <a:buClr>
                <a:srgbClr val="111A18"/>
              </a:buClr>
              <a:buSzPct val="100000"/>
              <a:buFont typeface="Roboto"/>
              <a:buChar char="●"/>
            </a:pPr>
            <a:r>
              <a:rPr b="1" lang="en-GB" sz="5192">
                <a:solidFill>
                  <a:srgbClr val="111A18"/>
                </a:solidFill>
                <a:highlight>
                  <a:schemeClr val="lt1"/>
                </a:highlight>
                <a:latin typeface="Roboto"/>
                <a:ea typeface="Roboto"/>
                <a:cs typeface="Roboto"/>
                <a:sym typeface="Roboto"/>
              </a:rPr>
              <a:t>Comprehensive Analysis:</a:t>
            </a:r>
            <a:r>
              <a:rPr lang="en-GB" sz="5192">
                <a:solidFill>
                  <a:srgbClr val="111A18"/>
                </a:solidFill>
                <a:highlight>
                  <a:schemeClr val="lt1"/>
                </a:highlight>
                <a:latin typeface="Roboto"/>
                <a:ea typeface="Roboto"/>
                <a:cs typeface="Roboto"/>
                <a:sym typeface="Roboto"/>
              </a:rPr>
              <a:t> Combines regression and advanced time series methods.</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b="1" lang="en-GB" sz="5192">
                <a:solidFill>
                  <a:srgbClr val="111A18"/>
                </a:solidFill>
                <a:highlight>
                  <a:schemeClr val="lt1"/>
                </a:highlight>
                <a:latin typeface="Roboto"/>
                <a:ea typeface="Roboto"/>
                <a:cs typeface="Roboto"/>
                <a:sym typeface="Roboto"/>
              </a:rPr>
              <a:t>Robust Comparison:</a:t>
            </a:r>
            <a:r>
              <a:rPr lang="en-GB" sz="5192">
                <a:solidFill>
                  <a:srgbClr val="111A18"/>
                </a:solidFill>
                <a:highlight>
                  <a:schemeClr val="lt1"/>
                </a:highlight>
                <a:latin typeface="Roboto"/>
                <a:ea typeface="Roboto"/>
                <a:cs typeface="Roboto"/>
                <a:sym typeface="Roboto"/>
              </a:rPr>
              <a:t> Assess model performance for accurate forecasting</a:t>
            </a:r>
            <a:endParaRPr sz="5192">
              <a:solidFill>
                <a:srgbClr val="111A18"/>
              </a:solidFill>
              <a:highlight>
                <a:schemeClr val="lt1"/>
              </a:highlight>
              <a:latin typeface="Roboto"/>
              <a:ea typeface="Roboto"/>
              <a:cs typeface="Roboto"/>
              <a:sym typeface="Roboto"/>
            </a:endParaRPr>
          </a:p>
          <a:p>
            <a:pPr indent="-311027" lvl="0" marL="457200" rtl="0" algn="l">
              <a:spcBef>
                <a:spcPts val="0"/>
              </a:spcBef>
              <a:spcAft>
                <a:spcPts val="0"/>
              </a:spcAft>
              <a:buClr>
                <a:srgbClr val="111A18"/>
              </a:buClr>
              <a:buSzPct val="100000"/>
              <a:buFont typeface="Roboto"/>
              <a:buChar char="●"/>
            </a:pPr>
            <a:r>
              <a:rPr b="1" lang="en-GB" sz="5192">
                <a:solidFill>
                  <a:srgbClr val="111A18"/>
                </a:solidFill>
                <a:highlight>
                  <a:schemeClr val="lt1"/>
                </a:highlight>
                <a:latin typeface="Roboto"/>
                <a:ea typeface="Roboto"/>
                <a:cs typeface="Roboto"/>
                <a:sym typeface="Roboto"/>
              </a:rPr>
              <a:t>Enhanced Predictive Power:</a:t>
            </a:r>
            <a:r>
              <a:rPr lang="en-GB" sz="5192">
                <a:solidFill>
                  <a:srgbClr val="111A18"/>
                </a:solidFill>
                <a:highlight>
                  <a:schemeClr val="lt1"/>
                </a:highlight>
                <a:latin typeface="Roboto"/>
                <a:ea typeface="Roboto"/>
                <a:cs typeface="Roboto"/>
                <a:sym typeface="Roboto"/>
              </a:rPr>
              <a:t> Utilizes the strengths of each model</a:t>
            </a:r>
            <a:endParaRPr sz="5192">
              <a:solidFill>
                <a:srgbClr val="111A18"/>
              </a:solidFill>
              <a:highlight>
                <a:schemeClr val="lt1"/>
              </a:highlight>
              <a:latin typeface="Roboto"/>
              <a:ea typeface="Roboto"/>
              <a:cs typeface="Roboto"/>
              <a:sym typeface="Roboto"/>
            </a:endParaRPr>
          </a:p>
          <a:p>
            <a:pPr indent="0" lvl="0" marL="45720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1200"/>
              </a:spcAft>
              <a:buNone/>
            </a:pPr>
            <a:r>
              <a:t/>
            </a:r>
            <a:endParaRPr>
              <a:solidFill>
                <a:srgbClr val="111A18"/>
              </a:solidFill>
              <a:highlight>
                <a:srgbClr val="F5F5F5"/>
              </a:highlight>
              <a:latin typeface="Roboto"/>
              <a:ea typeface="Roboto"/>
              <a:cs typeface="Roboto"/>
              <a:sym typeface="Roboto"/>
            </a:endParaRPr>
          </a:p>
        </p:txBody>
      </p:sp>
      <p:pic>
        <p:nvPicPr>
          <p:cNvPr id="62" name="Google Shape;62;p14"/>
          <p:cNvPicPr preferRelativeResize="0"/>
          <p:nvPr/>
        </p:nvPicPr>
        <p:blipFill>
          <a:blip r:embed="rId3">
            <a:alphaModFix/>
          </a:blip>
          <a:stretch>
            <a:fillRect/>
          </a:stretch>
        </p:blipFill>
        <p:spPr>
          <a:xfrm>
            <a:off x="0" y="0"/>
            <a:ext cx="9144000" cy="476250"/>
          </a:xfrm>
          <a:prstGeom prst="rect">
            <a:avLst/>
          </a:prstGeom>
          <a:noFill/>
          <a:ln>
            <a:noFill/>
          </a:ln>
        </p:spPr>
      </p:pic>
      <p:sp>
        <p:nvSpPr>
          <p:cNvPr id="63" name="Google Shape;63;p14"/>
          <p:cNvSpPr txBox="1"/>
          <p:nvPr/>
        </p:nvSpPr>
        <p:spPr>
          <a:xfrm>
            <a:off x="1022275" y="7275"/>
            <a:ext cx="553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Objective</a:t>
            </a:r>
            <a:endParaRPr sz="1800">
              <a:solidFill>
                <a:srgbClr val="111A18"/>
              </a:solidFill>
              <a:highlight>
                <a:srgbClr val="F5F5F5"/>
              </a:highlight>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idx="1" type="body"/>
          </p:nvPr>
        </p:nvSpPr>
        <p:spPr>
          <a:xfrm>
            <a:off x="311700" y="660175"/>
            <a:ext cx="8786400" cy="44127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GB" sz="5930">
                <a:solidFill>
                  <a:srgbClr val="111A18"/>
                </a:solidFill>
                <a:highlight>
                  <a:schemeClr val="lt1"/>
                </a:highlight>
                <a:latin typeface="Roboto"/>
                <a:ea typeface="Roboto"/>
                <a:cs typeface="Roboto"/>
                <a:sym typeface="Roboto"/>
              </a:rPr>
              <a:t>Research objectives：Forecasting the Future Risks of Major U.S. Banks.</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111A18"/>
                </a:solidFill>
                <a:highlight>
                  <a:schemeClr val="lt1"/>
                </a:highlight>
                <a:latin typeface="Roboto"/>
                <a:ea typeface="Roboto"/>
                <a:cs typeface="Roboto"/>
                <a:sym typeface="Roboto"/>
              </a:rPr>
              <a:t>Research subjects：</a:t>
            </a:r>
            <a:r>
              <a:rPr lang="en-GB" sz="5930">
                <a:solidFill>
                  <a:srgbClr val="4A86E8"/>
                </a:solidFill>
                <a:highlight>
                  <a:schemeClr val="lt1"/>
                </a:highlight>
                <a:latin typeface="Roboto"/>
                <a:ea typeface="Roboto"/>
                <a:cs typeface="Roboto"/>
                <a:sym typeface="Roboto"/>
              </a:rPr>
              <a:t>Bank of America Corp/ Citizens Financial Group Inc/ FIFTH THIRD/ JPM US CHASE/ USB US Equity/ WFC US Equity</a:t>
            </a:r>
            <a:endParaRPr sz="5930">
              <a:solidFill>
                <a:srgbClr val="4A86E8"/>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CC4125"/>
                </a:solidFill>
                <a:highlight>
                  <a:schemeClr val="lt1"/>
                </a:highlight>
                <a:latin typeface="Roboto"/>
                <a:ea typeface="Roboto"/>
                <a:cs typeface="Roboto"/>
                <a:sym typeface="Roboto"/>
              </a:rPr>
              <a:t>FCNCA US Equity (acquired the failed Silicon Valley Bank in Mar 2023)</a:t>
            </a:r>
            <a:endParaRPr sz="5930">
              <a:solidFill>
                <a:srgbClr val="CC4125"/>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CC4125"/>
                </a:solidFill>
                <a:highlight>
                  <a:schemeClr val="lt1"/>
                </a:highlight>
                <a:latin typeface="Roboto"/>
                <a:ea typeface="Roboto"/>
                <a:cs typeface="Roboto"/>
                <a:sym typeface="Roboto"/>
              </a:rPr>
              <a:t>FRCB US Equity (had declared bankruptcy in 2023)</a:t>
            </a:r>
            <a:endParaRPr sz="5930">
              <a:solidFill>
                <a:srgbClr val="CC4125"/>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111A18"/>
                </a:solidFill>
                <a:highlight>
                  <a:schemeClr val="lt1"/>
                </a:highlight>
                <a:latin typeface="Roboto"/>
                <a:ea typeface="Roboto"/>
                <a:cs typeface="Roboto"/>
                <a:sym typeface="Roboto"/>
              </a:rPr>
              <a:t>Research data: Net Loans(millions)                            </a:t>
            </a:r>
            <a:r>
              <a:rPr lang="en-GB" sz="5930">
                <a:solidFill>
                  <a:srgbClr val="111A18"/>
                </a:solidFill>
                <a:highlight>
                  <a:schemeClr val="lt1"/>
                </a:highlight>
                <a:latin typeface="Roboto"/>
                <a:ea typeface="Roboto"/>
                <a:cs typeface="Roboto"/>
                <a:sym typeface="Roboto"/>
              </a:rPr>
              <a:t>Reserve for Loan Losses(millions)</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111A18"/>
                </a:solidFill>
                <a:highlight>
                  <a:schemeClr val="lt1"/>
                </a:highlight>
                <a:latin typeface="Roboto"/>
                <a:ea typeface="Roboto"/>
                <a:cs typeface="Roboto"/>
                <a:sym typeface="Roboto"/>
              </a:rPr>
              <a:t>                           Total Deposits(millions)                     Provision for Loan Losses(millions)/ </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111A18"/>
                </a:solidFill>
                <a:highlight>
                  <a:schemeClr val="lt1"/>
                </a:highlight>
                <a:latin typeface="Roboto"/>
                <a:ea typeface="Roboto"/>
                <a:cs typeface="Roboto"/>
                <a:sym typeface="Roboto"/>
              </a:rPr>
              <a:t>                           Total Loans(millions)                          Non-Performing Loans(millions)/ </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111A18"/>
                </a:solidFill>
                <a:highlight>
                  <a:schemeClr val="lt1"/>
                </a:highlight>
                <a:latin typeface="Roboto"/>
                <a:ea typeface="Roboto"/>
                <a:cs typeface="Roboto"/>
                <a:sym typeface="Roboto"/>
              </a:rPr>
              <a:t>                           Total Loans to Total Deposits(%)     </a:t>
            </a:r>
            <a:r>
              <a:rPr lang="en-GB" sz="5930">
                <a:solidFill>
                  <a:srgbClr val="111A18"/>
                </a:solidFill>
                <a:highlight>
                  <a:schemeClr val="lt1"/>
                </a:highlight>
                <a:latin typeface="Roboto"/>
                <a:ea typeface="Roboto"/>
                <a:cs typeface="Roboto"/>
                <a:sym typeface="Roboto"/>
              </a:rPr>
              <a:t>FED FUNDS(Fed funds rate)</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111A18"/>
                </a:solidFill>
                <a:highlight>
                  <a:schemeClr val="lt1"/>
                </a:highlight>
                <a:latin typeface="Roboto"/>
                <a:ea typeface="Roboto"/>
                <a:cs typeface="Roboto"/>
                <a:sym typeface="Roboto"/>
              </a:rPr>
              <a:t>                           CPI (Consumer Price Index )             UN RATE(Unemployment Rate)</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lang="en-GB" sz="5930">
                <a:solidFill>
                  <a:srgbClr val="111A18"/>
                </a:solidFill>
                <a:highlight>
                  <a:schemeClr val="lt1"/>
                </a:highlight>
                <a:latin typeface="Roboto"/>
                <a:ea typeface="Roboto"/>
                <a:cs typeface="Roboto"/>
                <a:sym typeface="Roboto"/>
              </a:rPr>
              <a:t>                           REAL GDP(Gross Domestic Product)</a:t>
            </a:r>
            <a:endParaRPr sz="59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rPr lang="en-GB" sz="4800">
                <a:solidFill>
                  <a:srgbClr val="111A18"/>
                </a:solidFill>
                <a:highlight>
                  <a:srgbClr val="F5F5F5"/>
                </a:highlight>
                <a:latin typeface="Roboto"/>
                <a:ea typeface="Roboto"/>
                <a:cs typeface="Roboto"/>
                <a:sym typeface="Roboto"/>
              </a:rPr>
              <a:t>obtained from Bloomberg and the Federal Reserve, covering quarterly data over a nine-year period</a:t>
            </a:r>
            <a:endParaRPr sz="9530">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a:solidFill>
                <a:srgbClr val="111A18"/>
              </a:solidFill>
              <a:highlight>
                <a:schemeClr val="lt1"/>
              </a:highlight>
              <a:latin typeface="Roboto"/>
              <a:ea typeface="Roboto"/>
              <a:cs typeface="Roboto"/>
              <a:sym typeface="Roboto"/>
            </a:endParaRPr>
          </a:p>
          <a:p>
            <a:pPr indent="0" lvl="0" marL="0" rtl="0" algn="l">
              <a:spcBef>
                <a:spcPts val="1200"/>
              </a:spcBef>
              <a:spcAft>
                <a:spcPts val="1200"/>
              </a:spcAft>
              <a:buNone/>
            </a:pPr>
            <a:r>
              <a:t/>
            </a:r>
            <a:endParaRPr>
              <a:solidFill>
                <a:srgbClr val="111A18"/>
              </a:solidFill>
              <a:highlight>
                <a:srgbClr val="F5F5F5"/>
              </a:highlight>
              <a:latin typeface="Roboto"/>
              <a:ea typeface="Roboto"/>
              <a:cs typeface="Roboto"/>
              <a:sym typeface="Roboto"/>
            </a:endParaRPr>
          </a:p>
        </p:txBody>
      </p:sp>
      <p:pic>
        <p:nvPicPr>
          <p:cNvPr id="69" name="Google Shape;69;p15"/>
          <p:cNvPicPr preferRelativeResize="0"/>
          <p:nvPr/>
        </p:nvPicPr>
        <p:blipFill>
          <a:blip r:embed="rId3">
            <a:alphaModFix/>
          </a:blip>
          <a:stretch>
            <a:fillRect/>
          </a:stretch>
        </p:blipFill>
        <p:spPr>
          <a:xfrm>
            <a:off x="0" y="0"/>
            <a:ext cx="9144000" cy="476250"/>
          </a:xfrm>
          <a:prstGeom prst="rect">
            <a:avLst/>
          </a:prstGeom>
          <a:noFill/>
          <a:ln>
            <a:noFill/>
          </a:ln>
        </p:spPr>
      </p:pic>
      <p:sp>
        <p:nvSpPr>
          <p:cNvPr id="70" name="Google Shape;70;p15"/>
          <p:cNvSpPr txBox="1"/>
          <p:nvPr/>
        </p:nvSpPr>
        <p:spPr>
          <a:xfrm>
            <a:off x="1022275" y="7275"/>
            <a:ext cx="553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Research Introduction</a:t>
            </a:r>
            <a:endParaRPr sz="1800">
              <a:solidFill>
                <a:srgbClr val="111A18"/>
              </a:solidFill>
              <a:highlight>
                <a:srgbClr val="F5F5F5"/>
              </a:highlight>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pic>
        <p:nvPicPr>
          <p:cNvPr id="75" name="Google Shape;75;p16"/>
          <p:cNvPicPr preferRelativeResize="0"/>
          <p:nvPr/>
        </p:nvPicPr>
        <p:blipFill>
          <a:blip r:embed="rId3">
            <a:alphaModFix/>
          </a:blip>
          <a:stretch>
            <a:fillRect/>
          </a:stretch>
        </p:blipFill>
        <p:spPr>
          <a:xfrm>
            <a:off x="0" y="0"/>
            <a:ext cx="9144000" cy="476250"/>
          </a:xfrm>
          <a:prstGeom prst="rect">
            <a:avLst/>
          </a:prstGeom>
          <a:noFill/>
          <a:ln>
            <a:noFill/>
          </a:ln>
        </p:spPr>
      </p:pic>
      <p:sp>
        <p:nvSpPr>
          <p:cNvPr id="76" name="Google Shape;76;p16"/>
          <p:cNvSpPr txBox="1"/>
          <p:nvPr/>
        </p:nvSpPr>
        <p:spPr>
          <a:xfrm>
            <a:off x="1022275" y="7275"/>
            <a:ext cx="5537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Date Gathering</a:t>
            </a:r>
            <a:endParaRPr sz="1800">
              <a:solidFill>
                <a:srgbClr val="111A18"/>
              </a:solidFill>
              <a:highlight>
                <a:srgbClr val="F5F5F5"/>
              </a:highlight>
              <a:latin typeface="Roboto"/>
              <a:ea typeface="Roboto"/>
              <a:cs typeface="Roboto"/>
              <a:sym typeface="Roboto"/>
            </a:endParaRPr>
          </a:p>
        </p:txBody>
      </p:sp>
      <p:sp>
        <p:nvSpPr>
          <p:cNvPr id="77" name="Google Shape;77;p16"/>
          <p:cNvSpPr txBox="1"/>
          <p:nvPr/>
        </p:nvSpPr>
        <p:spPr>
          <a:xfrm>
            <a:off x="6043525" y="1971275"/>
            <a:ext cx="327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78" name="Google Shape;78;p16"/>
          <p:cNvSpPr txBox="1"/>
          <p:nvPr/>
        </p:nvSpPr>
        <p:spPr>
          <a:xfrm>
            <a:off x="147875" y="1412950"/>
            <a:ext cx="5008800" cy="2974500"/>
          </a:xfrm>
          <a:prstGeom prst="rect">
            <a:avLst/>
          </a:prstGeom>
          <a:noFill/>
          <a:ln>
            <a:noFill/>
          </a:ln>
        </p:spPr>
        <p:txBody>
          <a:bodyPr anchorCtr="0" anchor="t" bIns="91425" lIns="91425" spcFirstLastPara="1" rIns="91425" wrap="square" tIns="91425">
            <a:noAutofit/>
          </a:bodyPr>
          <a:lstStyle/>
          <a:p>
            <a:pPr indent="-342900" lvl="0" marL="457200" rtl="0" algn="l">
              <a:lnSpc>
                <a:spcPct val="90000"/>
              </a:lnSpc>
              <a:spcBef>
                <a:spcPts val="0"/>
              </a:spcBef>
              <a:spcAft>
                <a:spcPts val="0"/>
              </a:spcAft>
              <a:buClr>
                <a:schemeClr val="dk1"/>
              </a:buClr>
              <a:buSzPts val="1800"/>
              <a:buChar char="●"/>
            </a:pPr>
            <a:r>
              <a:rPr b="1" lang="en-GB" sz="1800">
                <a:solidFill>
                  <a:schemeClr val="dk1"/>
                </a:solidFill>
              </a:rPr>
              <a:t>Bloomberg</a:t>
            </a:r>
            <a:endParaRPr b="1" sz="1800">
              <a:solidFill>
                <a:schemeClr val="dk1"/>
              </a:solidFill>
            </a:endParaRPr>
          </a:p>
          <a:p>
            <a:pPr indent="0" lvl="0" marL="0" rtl="0" algn="l">
              <a:lnSpc>
                <a:spcPct val="90000"/>
              </a:lnSpc>
              <a:spcBef>
                <a:spcPts val="0"/>
              </a:spcBef>
              <a:spcAft>
                <a:spcPts val="0"/>
              </a:spcAft>
              <a:buNone/>
            </a:pPr>
            <a:r>
              <a:t/>
            </a:r>
            <a:endParaRPr b="1" sz="1800">
              <a:solidFill>
                <a:schemeClr val="dk1"/>
              </a:solidFill>
            </a:endParaRPr>
          </a:p>
          <a:p>
            <a:pPr indent="-342900" lvl="0" marL="457200" rtl="0" algn="l">
              <a:lnSpc>
                <a:spcPct val="90000"/>
              </a:lnSpc>
              <a:spcBef>
                <a:spcPts val="0"/>
              </a:spcBef>
              <a:spcAft>
                <a:spcPts val="0"/>
              </a:spcAft>
              <a:buClr>
                <a:schemeClr val="dk1"/>
              </a:buClr>
              <a:buSzPts val="1800"/>
              <a:buChar char="●"/>
            </a:pPr>
            <a:r>
              <a:rPr b="1" lang="en-GB" sz="1800">
                <a:solidFill>
                  <a:schemeClr val="dk1"/>
                </a:solidFill>
              </a:rPr>
              <a:t>Macroeconomic Data:</a:t>
            </a:r>
            <a:endParaRPr b="1" sz="1800">
              <a:solidFill>
                <a:schemeClr val="dk1"/>
              </a:solidFill>
            </a:endParaRPr>
          </a:p>
          <a:p>
            <a:pPr indent="-342900" lvl="0" marL="914400" rtl="0" algn="l">
              <a:lnSpc>
                <a:spcPct val="90000"/>
              </a:lnSpc>
              <a:spcBef>
                <a:spcPts val="0"/>
              </a:spcBef>
              <a:spcAft>
                <a:spcPts val="0"/>
              </a:spcAft>
              <a:buClr>
                <a:schemeClr val="dk1"/>
              </a:buClr>
              <a:buSzPts val="1800"/>
              <a:buChar char="-"/>
            </a:pPr>
            <a:r>
              <a:rPr lang="en-GB" sz="1800">
                <a:solidFill>
                  <a:schemeClr val="dk1"/>
                </a:solidFill>
              </a:rPr>
              <a:t>Unemployment Rate:</a:t>
            </a:r>
            <a:endParaRPr sz="1800">
              <a:solidFill>
                <a:schemeClr val="dk1"/>
              </a:solidFill>
            </a:endParaRPr>
          </a:p>
          <a:p>
            <a:pPr indent="457200" lvl="0" marL="914400" rtl="0" algn="l">
              <a:lnSpc>
                <a:spcPct val="90000"/>
              </a:lnSpc>
              <a:spcBef>
                <a:spcPts val="0"/>
              </a:spcBef>
              <a:spcAft>
                <a:spcPts val="0"/>
              </a:spcAft>
              <a:buNone/>
            </a:pPr>
            <a:r>
              <a:rPr lang="en-GB" sz="1800">
                <a:solidFill>
                  <a:schemeClr val="dk1"/>
                </a:solidFill>
              </a:rPr>
              <a:t>Increased loan defaults </a:t>
            </a:r>
            <a:endParaRPr sz="1800">
              <a:solidFill>
                <a:schemeClr val="dk1"/>
              </a:solidFill>
            </a:endParaRPr>
          </a:p>
          <a:p>
            <a:pPr indent="457200" lvl="0" marL="914400" rtl="0" algn="l">
              <a:lnSpc>
                <a:spcPct val="90000"/>
              </a:lnSpc>
              <a:spcBef>
                <a:spcPts val="0"/>
              </a:spcBef>
              <a:spcAft>
                <a:spcPts val="0"/>
              </a:spcAft>
              <a:buNone/>
            </a:pPr>
            <a:r>
              <a:rPr lang="en-GB" sz="1800">
                <a:solidFill>
                  <a:schemeClr val="dk1"/>
                </a:solidFill>
              </a:rPr>
              <a:t>Higher credit risk for banks</a:t>
            </a:r>
            <a:endParaRPr sz="1800">
              <a:solidFill>
                <a:schemeClr val="dk1"/>
              </a:solidFill>
            </a:endParaRPr>
          </a:p>
          <a:p>
            <a:pPr indent="-342900" lvl="0" marL="914400" rtl="0" algn="l">
              <a:lnSpc>
                <a:spcPct val="90000"/>
              </a:lnSpc>
              <a:spcBef>
                <a:spcPts val="0"/>
              </a:spcBef>
              <a:spcAft>
                <a:spcPts val="0"/>
              </a:spcAft>
              <a:buClr>
                <a:schemeClr val="dk1"/>
              </a:buClr>
              <a:buSzPts val="1800"/>
              <a:buChar char="-"/>
            </a:pPr>
            <a:r>
              <a:rPr lang="en-GB" sz="1800">
                <a:solidFill>
                  <a:schemeClr val="dk1"/>
                </a:solidFill>
              </a:rPr>
              <a:t>Federal Funds:</a:t>
            </a:r>
            <a:endParaRPr sz="1800">
              <a:solidFill>
                <a:schemeClr val="dk1"/>
              </a:solidFill>
            </a:endParaRPr>
          </a:p>
          <a:p>
            <a:pPr indent="0" lvl="0" marL="457200" rtl="0" algn="l">
              <a:lnSpc>
                <a:spcPct val="90000"/>
              </a:lnSpc>
              <a:spcBef>
                <a:spcPts val="0"/>
              </a:spcBef>
              <a:spcAft>
                <a:spcPts val="0"/>
              </a:spcAft>
              <a:buNone/>
            </a:pPr>
            <a:r>
              <a:rPr lang="en-GB" sz="1800">
                <a:solidFill>
                  <a:schemeClr val="dk1"/>
                </a:solidFill>
              </a:rPr>
              <a:t>		Affecting the cost of borrowing</a:t>
            </a:r>
            <a:endParaRPr sz="1800">
              <a:solidFill>
                <a:schemeClr val="dk1"/>
              </a:solidFill>
            </a:endParaRPr>
          </a:p>
          <a:p>
            <a:pPr indent="0" lvl="0" marL="457200" rtl="0" algn="l">
              <a:lnSpc>
                <a:spcPct val="90000"/>
              </a:lnSpc>
              <a:spcBef>
                <a:spcPts val="0"/>
              </a:spcBef>
              <a:spcAft>
                <a:spcPts val="0"/>
              </a:spcAft>
              <a:buNone/>
            </a:pPr>
            <a:r>
              <a:rPr lang="en-GB" sz="1800">
                <a:solidFill>
                  <a:schemeClr val="dk1"/>
                </a:solidFill>
              </a:rPr>
              <a:t>		Liquidity and profitability</a:t>
            </a:r>
            <a:endParaRPr sz="1800">
              <a:solidFill>
                <a:schemeClr val="dk1"/>
              </a:solidFill>
            </a:endParaRPr>
          </a:p>
        </p:txBody>
      </p:sp>
      <p:pic>
        <p:nvPicPr>
          <p:cNvPr descr="First Republic Bank Stock - FRCB Stock ..." id="79" name="Google Shape;79;p16"/>
          <p:cNvPicPr preferRelativeResize="0"/>
          <p:nvPr/>
        </p:nvPicPr>
        <p:blipFill rotWithShape="1">
          <a:blip r:embed="rId4">
            <a:alphaModFix/>
          </a:blip>
          <a:srcRect b="20967" l="0" r="41200" t="0"/>
          <a:stretch/>
        </p:blipFill>
        <p:spPr>
          <a:xfrm>
            <a:off x="5601575" y="1084500"/>
            <a:ext cx="2805000" cy="1982500"/>
          </a:xfrm>
          <a:prstGeom prst="rect">
            <a:avLst/>
          </a:prstGeom>
          <a:noFill/>
          <a:ln>
            <a:noFill/>
          </a:ln>
        </p:spPr>
      </p:pic>
      <p:sp>
        <p:nvSpPr>
          <p:cNvPr id="80" name="Google Shape;80;p16"/>
          <p:cNvSpPr txBox="1"/>
          <p:nvPr/>
        </p:nvSpPr>
        <p:spPr>
          <a:xfrm>
            <a:off x="5271575" y="3320700"/>
            <a:ext cx="3465000" cy="1822800"/>
          </a:xfrm>
          <a:prstGeom prst="rect">
            <a:avLst/>
          </a:prstGeom>
          <a:noFill/>
          <a:ln>
            <a:noFill/>
          </a:ln>
        </p:spPr>
        <p:txBody>
          <a:bodyPr anchorCtr="0" anchor="t" bIns="91425" lIns="91425" spcFirstLastPara="1" rIns="91425" wrap="square" tIns="91425">
            <a:noAutofit/>
          </a:bodyPr>
          <a:lstStyle/>
          <a:p>
            <a:pPr indent="-342900" lvl="0" marL="457200" rtl="0" algn="l">
              <a:lnSpc>
                <a:spcPct val="90000"/>
              </a:lnSpc>
              <a:spcBef>
                <a:spcPts val="0"/>
              </a:spcBef>
              <a:spcAft>
                <a:spcPts val="0"/>
              </a:spcAft>
              <a:buClr>
                <a:schemeClr val="dk1"/>
              </a:buClr>
              <a:buSzPts val="1800"/>
              <a:buChar char="●"/>
            </a:pPr>
            <a:r>
              <a:rPr b="1" lang="en-GB" sz="1800">
                <a:solidFill>
                  <a:schemeClr val="dk1"/>
                </a:solidFill>
              </a:rPr>
              <a:t>Bank-Specific Variables:</a:t>
            </a:r>
            <a:endParaRPr b="1" sz="1800">
              <a:solidFill>
                <a:schemeClr val="dk1"/>
              </a:solidFill>
            </a:endParaRPr>
          </a:p>
          <a:p>
            <a:pPr indent="-342900" lvl="0" marL="914400" rtl="0" algn="l">
              <a:lnSpc>
                <a:spcPct val="90000"/>
              </a:lnSpc>
              <a:spcBef>
                <a:spcPts val="0"/>
              </a:spcBef>
              <a:spcAft>
                <a:spcPts val="0"/>
              </a:spcAft>
              <a:buClr>
                <a:schemeClr val="dk1"/>
              </a:buClr>
              <a:buSzPts val="1800"/>
              <a:buChar char="-"/>
            </a:pPr>
            <a:r>
              <a:rPr lang="en-GB" sz="1800">
                <a:solidFill>
                  <a:schemeClr val="dk1"/>
                </a:solidFill>
              </a:rPr>
              <a:t>Non-Performing Loans</a:t>
            </a:r>
            <a:endParaRPr sz="1800">
              <a:solidFill>
                <a:schemeClr val="dk1"/>
              </a:solidFill>
            </a:endParaRPr>
          </a:p>
          <a:p>
            <a:pPr indent="-342900" lvl="0" marL="914400" rtl="0" algn="l">
              <a:lnSpc>
                <a:spcPct val="90000"/>
              </a:lnSpc>
              <a:spcBef>
                <a:spcPts val="0"/>
              </a:spcBef>
              <a:spcAft>
                <a:spcPts val="0"/>
              </a:spcAft>
              <a:buClr>
                <a:schemeClr val="dk1"/>
              </a:buClr>
              <a:buSzPts val="1800"/>
              <a:buChar char="-"/>
            </a:pPr>
            <a:r>
              <a:rPr lang="en-GB" sz="1800">
                <a:solidFill>
                  <a:schemeClr val="dk1"/>
                </a:solidFill>
              </a:rPr>
              <a:t>Loan Loss Provisions</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idx="1" type="body"/>
          </p:nvPr>
        </p:nvSpPr>
        <p:spPr>
          <a:xfrm>
            <a:off x="311700" y="515950"/>
            <a:ext cx="8520600" cy="4557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200"/>
              <a:t>USB                                                                FCNCA                                                          Bank of America Corp</a:t>
            </a:r>
            <a:endParaRPr sz="1200"/>
          </a:p>
        </p:txBody>
      </p:sp>
      <p:pic>
        <p:nvPicPr>
          <p:cNvPr id="86" name="Google Shape;86;p17"/>
          <p:cNvPicPr preferRelativeResize="0"/>
          <p:nvPr/>
        </p:nvPicPr>
        <p:blipFill>
          <a:blip r:embed="rId3">
            <a:alphaModFix/>
          </a:blip>
          <a:stretch>
            <a:fillRect/>
          </a:stretch>
        </p:blipFill>
        <p:spPr>
          <a:xfrm>
            <a:off x="0" y="0"/>
            <a:ext cx="9144000" cy="476250"/>
          </a:xfrm>
          <a:prstGeom prst="rect">
            <a:avLst/>
          </a:prstGeom>
          <a:noFill/>
          <a:ln>
            <a:noFill/>
          </a:ln>
        </p:spPr>
      </p:pic>
      <p:sp>
        <p:nvSpPr>
          <p:cNvPr id="87" name="Google Shape;87;p17"/>
          <p:cNvSpPr txBox="1"/>
          <p:nvPr/>
        </p:nvSpPr>
        <p:spPr>
          <a:xfrm>
            <a:off x="982575" y="7275"/>
            <a:ext cx="4993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OLS Regression</a:t>
            </a:r>
            <a:endParaRPr b="1" sz="1800">
              <a:solidFill>
                <a:srgbClr val="434343"/>
              </a:solidFill>
            </a:endParaRPr>
          </a:p>
        </p:txBody>
      </p:sp>
      <p:sp>
        <p:nvSpPr>
          <p:cNvPr id="88" name="Google Shape;88;p17"/>
          <p:cNvSpPr txBox="1"/>
          <p:nvPr/>
        </p:nvSpPr>
        <p:spPr>
          <a:xfrm>
            <a:off x="9365125" y="179775"/>
            <a:ext cx="2928000" cy="71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111A18"/>
                </a:solidFill>
              </a:rPr>
              <a:t>1. What we do</a:t>
            </a:r>
            <a:endParaRPr sz="1800">
              <a:solidFill>
                <a:srgbClr val="111A18"/>
              </a:solidFill>
            </a:endParaRPr>
          </a:p>
          <a:p>
            <a:pPr indent="0" lvl="0" marL="0" rtl="0" algn="l">
              <a:spcBef>
                <a:spcPts val="0"/>
              </a:spcBef>
              <a:spcAft>
                <a:spcPts val="0"/>
              </a:spcAft>
              <a:buNone/>
            </a:pPr>
            <a:r>
              <a:rPr lang="en-GB" sz="1800">
                <a:solidFill>
                  <a:srgbClr val="111A18"/>
                </a:solidFill>
              </a:rPr>
              <a:t>2.show some graph fo all banks</a:t>
            </a:r>
            <a:endParaRPr sz="1800">
              <a:solidFill>
                <a:srgbClr val="111A18"/>
              </a:solidFill>
            </a:endParaRPr>
          </a:p>
          <a:p>
            <a:pPr indent="0" lvl="0" marL="0" rtl="0" algn="l">
              <a:spcBef>
                <a:spcPts val="0"/>
              </a:spcBef>
              <a:spcAft>
                <a:spcPts val="0"/>
              </a:spcAft>
              <a:buNone/>
            </a:pPr>
            <a:r>
              <a:rPr lang="en-GB" sz="1800">
                <a:solidFill>
                  <a:srgbClr val="111A18"/>
                </a:solidFill>
              </a:rPr>
              <a:t>3.rmse and maps on the test set</a:t>
            </a:r>
            <a:endParaRPr sz="1800">
              <a:solidFill>
                <a:srgbClr val="111A18"/>
              </a:solidFill>
            </a:endParaRPr>
          </a:p>
          <a:p>
            <a:pPr indent="0" lvl="0" marL="0" rtl="0" algn="l">
              <a:spcBef>
                <a:spcPts val="0"/>
              </a:spcBef>
              <a:spcAft>
                <a:spcPts val="0"/>
              </a:spcAft>
              <a:buNone/>
            </a:pPr>
            <a:r>
              <a:rPr lang="en-GB" sz="1800">
                <a:solidFill>
                  <a:srgbClr val="111A18"/>
                </a:solidFill>
              </a:rPr>
              <a:t>4.explain why the performance is good or not</a:t>
            </a:r>
            <a:endParaRPr sz="1800">
              <a:solidFill>
                <a:srgbClr val="111A18"/>
              </a:solidFill>
            </a:endParaRPr>
          </a:p>
          <a:p>
            <a:pPr indent="0" lvl="0" marL="0" rtl="0" algn="l">
              <a:spcBef>
                <a:spcPts val="0"/>
              </a:spcBef>
              <a:spcAft>
                <a:spcPts val="0"/>
              </a:spcAft>
              <a:buNone/>
            </a:pPr>
            <a:r>
              <a:t/>
            </a:r>
            <a:endParaRPr sz="1800">
              <a:solidFill>
                <a:srgbClr val="111A18"/>
              </a:solidFill>
            </a:endParaRPr>
          </a:p>
        </p:txBody>
      </p:sp>
      <p:pic>
        <p:nvPicPr>
          <p:cNvPr id="89" name="Google Shape;89;p17"/>
          <p:cNvPicPr preferRelativeResize="0"/>
          <p:nvPr/>
        </p:nvPicPr>
        <p:blipFill>
          <a:blip r:embed="rId4">
            <a:alphaModFix/>
          </a:blip>
          <a:stretch>
            <a:fillRect/>
          </a:stretch>
        </p:blipFill>
        <p:spPr>
          <a:xfrm>
            <a:off x="215525" y="881775"/>
            <a:ext cx="2872145" cy="1813876"/>
          </a:xfrm>
          <a:prstGeom prst="rect">
            <a:avLst/>
          </a:prstGeom>
          <a:noFill/>
          <a:ln>
            <a:noFill/>
          </a:ln>
        </p:spPr>
      </p:pic>
      <p:pic>
        <p:nvPicPr>
          <p:cNvPr id="90" name="Google Shape;90;p17"/>
          <p:cNvPicPr preferRelativeResize="0"/>
          <p:nvPr/>
        </p:nvPicPr>
        <p:blipFill>
          <a:blip r:embed="rId5">
            <a:alphaModFix/>
          </a:blip>
          <a:stretch>
            <a:fillRect/>
          </a:stretch>
        </p:blipFill>
        <p:spPr>
          <a:xfrm>
            <a:off x="3135925" y="894332"/>
            <a:ext cx="2795099" cy="1839468"/>
          </a:xfrm>
          <a:prstGeom prst="rect">
            <a:avLst/>
          </a:prstGeom>
          <a:noFill/>
          <a:ln>
            <a:noFill/>
          </a:ln>
        </p:spPr>
      </p:pic>
      <p:pic>
        <p:nvPicPr>
          <p:cNvPr id="91" name="Google Shape;91;p17"/>
          <p:cNvPicPr preferRelativeResize="0"/>
          <p:nvPr/>
        </p:nvPicPr>
        <p:blipFill>
          <a:blip r:embed="rId6">
            <a:alphaModFix/>
          </a:blip>
          <a:stretch>
            <a:fillRect/>
          </a:stretch>
        </p:blipFill>
        <p:spPr>
          <a:xfrm>
            <a:off x="5979275" y="894325"/>
            <a:ext cx="3027326" cy="1839475"/>
          </a:xfrm>
          <a:prstGeom prst="rect">
            <a:avLst/>
          </a:prstGeom>
          <a:noFill/>
          <a:ln>
            <a:noFill/>
          </a:ln>
        </p:spPr>
      </p:pic>
      <p:pic>
        <p:nvPicPr>
          <p:cNvPr id="92" name="Google Shape;92;p17"/>
          <p:cNvPicPr preferRelativeResize="0"/>
          <p:nvPr/>
        </p:nvPicPr>
        <p:blipFill>
          <a:blip r:embed="rId7">
            <a:alphaModFix/>
          </a:blip>
          <a:stretch>
            <a:fillRect/>
          </a:stretch>
        </p:blipFill>
        <p:spPr>
          <a:xfrm>
            <a:off x="330625" y="2874025"/>
            <a:ext cx="2641951" cy="2062750"/>
          </a:xfrm>
          <a:prstGeom prst="rect">
            <a:avLst/>
          </a:prstGeom>
          <a:noFill/>
          <a:ln>
            <a:noFill/>
          </a:ln>
        </p:spPr>
      </p:pic>
      <p:pic>
        <p:nvPicPr>
          <p:cNvPr id="93" name="Google Shape;93;p17"/>
          <p:cNvPicPr preferRelativeResize="0"/>
          <p:nvPr/>
        </p:nvPicPr>
        <p:blipFill>
          <a:blip r:embed="rId8">
            <a:alphaModFix/>
          </a:blip>
          <a:stretch>
            <a:fillRect/>
          </a:stretch>
        </p:blipFill>
        <p:spPr>
          <a:xfrm>
            <a:off x="3299350" y="2874037"/>
            <a:ext cx="2795100" cy="2007414"/>
          </a:xfrm>
          <a:prstGeom prst="rect">
            <a:avLst/>
          </a:prstGeom>
          <a:noFill/>
          <a:ln>
            <a:noFill/>
          </a:ln>
        </p:spPr>
      </p:pic>
      <p:pic>
        <p:nvPicPr>
          <p:cNvPr id="94" name="Google Shape;94;p17"/>
          <p:cNvPicPr preferRelativeResize="0"/>
          <p:nvPr/>
        </p:nvPicPr>
        <p:blipFill>
          <a:blip r:embed="rId9">
            <a:alphaModFix/>
          </a:blip>
          <a:stretch>
            <a:fillRect/>
          </a:stretch>
        </p:blipFill>
        <p:spPr>
          <a:xfrm>
            <a:off x="6211500" y="2895725"/>
            <a:ext cx="2795100" cy="2007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8"/>
          <p:cNvPicPr preferRelativeResize="0"/>
          <p:nvPr/>
        </p:nvPicPr>
        <p:blipFill>
          <a:blip r:embed="rId3">
            <a:alphaModFix/>
          </a:blip>
          <a:stretch>
            <a:fillRect/>
          </a:stretch>
        </p:blipFill>
        <p:spPr>
          <a:xfrm>
            <a:off x="0" y="0"/>
            <a:ext cx="9144000" cy="476250"/>
          </a:xfrm>
          <a:prstGeom prst="rect">
            <a:avLst/>
          </a:prstGeom>
          <a:noFill/>
          <a:ln>
            <a:noFill/>
          </a:ln>
        </p:spPr>
      </p:pic>
      <p:sp>
        <p:nvSpPr>
          <p:cNvPr id="100" name="Google Shape;100;p18"/>
          <p:cNvSpPr txBox="1"/>
          <p:nvPr/>
        </p:nvSpPr>
        <p:spPr>
          <a:xfrm>
            <a:off x="982575" y="7275"/>
            <a:ext cx="6298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OLS Regression</a:t>
            </a:r>
            <a:endParaRPr b="1" sz="1800">
              <a:solidFill>
                <a:srgbClr val="434343"/>
              </a:solidFill>
            </a:endParaRPr>
          </a:p>
        </p:txBody>
      </p:sp>
      <p:sp>
        <p:nvSpPr>
          <p:cNvPr id="101" name="Google Shape;101;p18"/>
          <p:cNvSpPr txBox="1"/>
          <p:nvPr>
            <p:ph idx="1" type="body"/>
          </p:nvPr>
        </p:nvSpPr>
        <p:spPr>
          <a:xfrm>
            <a:off x="273225" y="400575"/>
            <a:ext cx="8520600" cy="467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200"/>
          </a:p>
          <a:p>
            <a:pPr indent="0" lvl="0" marL="0" rtl="0" algn="l">
              <a:spcBef>
                <a:spcPts val="1200"/>
              </a:spcBef>
              <a:spcAft>
                <a:spcPts val="0"/>
              </a:spcAft>
              <a:buNone/>
            </a:pPr>
            <a:r>
              <a:t/>
            </a:r>
            <a:endParaRPr sz="1200"/>
          </a:p>
          <a:p>
            <a:pPr indent="0" lvl="0" marL="0" rtl="0" algn="l">
              <a:spcBef>
                <a:spcPts val="1200"/>
              </a:spcBef>
              <a:spcAft>
                <a:spcPts val="1200"/>
              </a:spcAft>
              <a:buNone/>
            </a:pPr>
            <a:r>
              <a:t/>
            </a:r>
            <a:endParaRPr sz="1200"/>
          </a:p>
        </p:txBody>
      </p:sp>
      <p:sp>
        <p:nvSpPr>
          <p:cNvPr id="102" name="Google Shape;102;p18"/>
          <p:cNvSpPr txBox="1"/>
          <p:nvPr/>
        </p:nvSpPr>
        <p:spPr>
          <a:xfrm>
            <a:off x="330900" y="2809750"/>
            <a:ext cx="5537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2"/>
              </a:solidFill>
            </a:endParaRPr>
          </a:p>
        </p:txBody>
      </p:sp>
      <p:sp>
        <p:nvSpPr>
          <p:cNvPr id="103" name="Google Shape;103;p18"/>
          <p:cNvSpPr txBox="1"/>
          <p:nvPr/>
        </p:nvSpPr>
        <p:spPr>
          <a:xfrm>
            <a:off x="5502425" y="929350"/>
            <a:ext cx="3009300" cy="370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104" name="Google Shape;104;p18"/>
          <p:cNvSpPr txBox="1"/>
          <p:nvPr/>
        </p:nvSpPr>
        <p:spPr>
          <a:xfrm>
            <a:off x="5319750" y="967800"/>
            <a:ext cx="3624300" cy="3682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600">
                <a:solidFill>
                  <a:schemeClr val="dk2"/>
                </a:solidFill>
              </a:rPr>
              <a:t>Durbin-Watson：strongly suggests the presence of positive autocorrelation, this is typical of time series data.</a:t>
            </a:r>
            <a:endParaRPr sz="1600">
              <a:solidFill>
                <a:schemeClr val="dk2"/>
              </a:solidFill>
            </a:endParaRPr>
          </a:p>
          <a:p>
            <a:pPr indent="0" lvl="0" marL="0" rtl="0" algn="l">
              <a:lnSpc>
                <a:spcPct val="115000"/>
              </a:lnSpc>
              <a:spcBef>
                <a:spcPts val="1200"/>
              </a:spcBef>
              <a:spcAft>
                <a:spcPts val="0"/>
              </a:spcAft>
              <a:buNone/>
            </a:pPr>
            <a:r>
              <a:rPr lang="en-GB" sz="1600">
                <a:solidFill>
                  <a:schemeClr val="dk2"/>
                </a:solidFill>
                <a:highlight>
                  <a:schemeClr val="lt1"/>
                </a:highlight>
                <a:latin typeface="Roboto"/>
                <a:ea typeface="Roboto"/>
                <a:cs typeface="Roboto"/>
                <a:sym typeface="Roboto"/>
              </a:rPr>
              <a:t>Condition Number: serious multicollinearity issues.</a:t>
            </a:r>
            <a:endParaRPr sz="1800">
              <a:solidFill>
                <a:schemeClr val="dk2"/>
              </a:solidFill>
              <a:highlight>
                <a:schemeClr val="lt1"/>
              </a:highlight>
            </a:endParaRPr>
          </a:p>
          <a:p>
            <a:pPr indent="0" lvl="0" marL="0" rtl="0" algn="l">
              <a:lnSpc>
                <a:spcPct val="115000"/>
              </a:lnSpc>
              <a:spcBef>
                <a:spcPts val="1200"/>
              </a:spcBef>
              <a:spcAft>
                <a:spcPts val="0"/>
              </a:spcAft>
              <a:buNone/>
            </a:pPr>
            <a:r>
              <a:rPr lang="en-GB" sz="1600">
                <a:solidFill>
                  <a:schemeClr val="dk2"/>
                </a:solidFill>
              </a:rPr>
              <a:t>Introduction of Macroeconomic Variables: suggests that time-related factors are important in explaining changes</a:t>
            </a:r>
            <a:endParaRPr sz="1600">
              <a:solidFill>
                <a:schemeClr val="dk2"/>
              </a:solidFill>
            </a:endParaRPr>
          </a:p>
          <a:p>
            <a:pPr indent="0" lvl="0" marL="0" rtl="0" algn="l">
              <a:lnSpc>
                <a:spcPct val="115000"/>
              </a:lnSpc>
              <a:spcBef>
                <a:spcPts val="1200"/>
              </a:spcBef>
              <a:spcAft>
                <a:spcPts val="0"/>
              </a:spcAft>
              <a:buNone/>
            </a:pPr>
            <a:r>
              <a:t/>
            </a:r>
            <a:endParaRPr>
              <a:solidFill>
                <a:schemeClr val="dk2"/>
              </a:solidFill>
            </a:endParaRPr>
          </a:p>
          <a:p>
            <a:pPr indent="0" lvl="0" marL="0" rtl="0" algn="l">
              <a:lnSpc>
                <a:spcPct val="115000"/>
              </a:lnSpc>
              <a:spcBef>
                <a:spcPts val="1200"/>
              </a:spcBef>
              <a:spcAft>
                <a:spcPts val="0"/>
              </a:spcAft>
              <a:buNone/>
            </a:pPr>
            <a:r>
              <a:t/>
            </a:r>
            <a:endParaRPr>
              <a:solidFill>
                <a:schemeClr val="dk2"/>
              </a:solidFill>
            </a:endParaRPr>
          </a:p>
          <a:p>
            <a:pPr indent="0" lvl="0" marL="0" rtl="0" algn="l">
              <a:lnSpc>
                <a:spcPct val="115000"/>
              </a:lnSpc>
              <a:spcBef>
                <a:spcPts val="1200"/>
              </a:spcBef>
              <a:spcAft>
                <a:spcPts val="0"/>
              </a:spcAft>
              <a:buNone/>
            </a:pPr>
            <a:r>
              <a:t/>
            </a:r>
            <a:endParaRPr>
              <a:solidFill>
                <a:schemeClr val="dk2"/>
              </a:solidFill>
            </a:endParaRPr>
          </a:p>
          <a:p>
            <a:pPr indent="0" lvl="0" marL="0" rtl="0" algn="l">
              <a:spcBef>
                <a:spcPts val="1200"/>
              </a:spcBef>
              <a:spcAft>
                <a:spcPts val="0"/>
              </a:spcAft>
              <a:buNone/>
            </a:pPr>
            <a:r>
              <a:t/>
            </a:r>
            <a:endParaRPr sz="1800">
              <a:solidFill>
                <a:schemeClr val="dk2"/>
              </a:solidFill>
            </a:endParaRPr>
          </a:p>
        </p:txBody>
      </p:sp>
      <p:pic>
        <p:nvPicPr>
          <p:cNvPr id="105" name="Google Shape;105;p18"/>
          <p:cNvPicPr preferRelativeResize="0"/>
          <p:nvPr/>
        </p:nvPicPr>
        <p:blipFill>
          <a:blip r:embed="rId4">
            <a:alphaModFix/>
          </a:blip>
          <a:stretch>
            <a:fillRect/>
          </a:stretch>
        </p:blipFill>
        <p:spPr>
          <a:xfrm>
            <a:off x="183499" y="828900"/>
            <a:ext cx="4155075" cy="2225149"/>
          </a:xfrm>
          <a:prstGeom prst="rect">
            <a:avLst/>
          </a:prstGeom>
          <a:noFill/>
          <a:ln>
            <a:noFill/>
          </a:ln>
        </p:spPr>
      </p:pic>
      <p:sp>
        <p:nvSpPr>
          <p:cNvPr id="106" name="Google Shape;106;p18"/>
          <p:cNvSpPr txBox="1"/>
          <p:nvPr/>
        </p:nvSpPr>
        <p:spPr>
          <a:xfrm>
            <a:off x="148250" y="518150"/>
            <a:ext cx="5537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200">
                <a:solidFill>
                  <a:schemeClr val="dk2"/>
                </a:solidFill>
              </a:rPr>
              <a:t>FRCB US Equity:</a:t>
            </a:r>
            <a:endParaRPr sz="1200">
              <a:solidFill>
                <a:schemeClr val="dk2"/>
              </a:solidFill>
            </a:endParaRPr>
          </a:p>
        </p:txBody>
      </p:sp>
      <p:pic>
        <p:nvPicPr>
          <p:cNvPr id="107" name="Google Shape;107;p18"/>
          <p:cNvPicPr preferRelativeResize="0"/>
          <p:nvPr/>
        </p:nvPicPr>
        <p:blipFill>
          <a:blip r:embed="rId5">
            <a:alphaModFix/>
          </a:blip>
          <a:stretch>
            <a:fillRect/>
          </a:stretch>
        </p:blipFill>
        <p:spPr>
          <a:xfrm>
            <a:off x="505175" y="3121351"/>
            <a:ext cx="2563446" cy="1892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id="112" name="Google Shape;112;p19"/>
          <p:cNvPicPr preferRelativeResize="0"/>
          <p:nvPr/>
        </p:nvPicPr>
        <p:blipFill>
          <a:blip r:embed="rId3">
            <a:alphaModFix/>
          </a:blip>
          <a:stretch>
            <a:fillRect/>
          </a:stretch>
        </p:blipFill>
        <p:spPr>
          <a:xfrm>
            <a:off x="0" y="0"/>
            <a:ext cx="9144000" cy="476250"/>
          </a:xfrm>
          <a:prstGeom prst="rect">
            <a:avLst/>
          </a:prstGeom>
          <a:noFill/>
          <a:ln>
            <a:noFill/>
          </a:ln>
        </p:spPr>
      </p:pic>
      <p:sp>
        <p:nvSpPr>
          <p:cNvPr id="113" name="Google Shape;113;p19"/>
          <p:cNvSpPr/>
          <p:nvPr/>
        </p:nvSpPr>
        <p:spPr>
          <a:xfrm>
            <a:off x="1975375" y="2424688"/>
            <a:ext cx="406500" cy="569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9"/>
          <p:cNvSpPr/>
          <p:nvPr/>
        </p:nvSpPr>
        <p:spPr>
          <a:xfrm>
            <a:off x="4220013" y="3871363"/>
            <a:ext cx="645900" cy="452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 name="Google Shape;115;p19"/>
          <p:cNvSpPr/>
          <p:nvPr/>
        </p:nvSpPr>
        <p:spPr>
          <a:xfrm>
            <a:off x="6768438" y="2471050"/>
            <a:ext cx="406500" cy="4764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9"/>
          <p:cNvSpPr txBox="1"/>
          <p:nvPr/>
        </p:nvSpPr>
        <p:spPr>
          <a:xfrm>
            <a:off x="1892275" y="537538"/>
            <a:ext cx="572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rPr>
              <a:t>ACF</a:t>
            </a:r>
            <a:endParaRPr sz="1300">
              <a:solidFill>
                <a:schemeClr val="dk2"/>
              </a:solidFill>
            </a:endParaRPr>
          </a:p>
        </p:txBody>
      </p:sp>
      <p:sp>
        <p:nvSpPr>
          <p:cNvPr id="117" name="Google Shape;117;p19"/>
          <p:cNvSpPr txBox="1"/>
          <p:nvPr/>
        </p:nvSpPr>
        <p:spPr>
          <a:xfrm>
            <a:off x="6425100" y="551475"/>
            <a:ext cx="109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rPr>
              <a:t>FORECAST</a:t>
            </a:r>
            <a:endParaRPr sz="1300">
              <a:solidFill>
                <a:schemeClr val="dk2"/>
              </a:solidFill>
            </a:endParaRPr>
          </a:p>
        </p:txBody>
      </p:sp>
      <p:sp>
        <p:nvSpPr>
          <p:cNvPr id="118" name="Google Shape;118;p19"/>
          <p:cNvSpPr txBox="1"/>
          <p:nvPr/>
        </p:nvSpPr>
        <p:spPr>
          <a:xfrm>
            <a:off x="1855675" y="2993800"/>
            <a:ext cx="64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rPr>
              <a:t>P</a:t>
            </a:r>
            <a:r>
              <a:rPr lang="en-GB" sz="1300">
                <a:solidFill>
                  <a:schemeClr val="dk2"/>
                </a:solidFill>
              </a:rPr>
              <a:t>ACF</a:t>
            </a:r>
            <a:endParaRPr sz="1300">
              <a:solidFill>
                <a:schemeClr val="dk2"/>
              </a:solidFill>
            </a:endParaRPr>
          </a:p>
        </p:txBody>
      </p:sp>
      <p:sp>
        <p:nvSpPr>
          <p:cNvPr id="119" name="Google Shape;119;p19"/>
          <p:cNvSpPr txBox="1"/>
          <p:nvPr/>
        </p:nvSpPr>
        <p:spPr>
          <a:xfrm>
            <a:off x="6323550" y="2897650"/>
            <a:ext cx="1296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300">
                <a:solidFill>
                  <a:schemeClr val="dk2"/>
                </a:solidFill>
              </a:rPr>
              <a:t>Ljung-Box Test</a:t>
            </a:r>
            <a:endParaRPr sz="1300">
              <a:solidFill>
                <a:schemeClr val="dk2"/>
              </a:solidFill>
            </a:endParaRPr>
          </a:p>
        </p:txBody>
      </p:sp>
      <p:sp>
        <p:nvSpPr>
          <p:cNvPr id="120" name="Google Shape;120;p19"/>
          <p:cNvSpPr txBox="1"/>
          <p:nvPr/>
        </p:nvSpPr>
        <p:spPr>
          <a:xfrm>
            <a:off x="4146375" y="513075"/>
            <a:ext cx="1385100" cy="46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CC4125"/>
                </a:solidFill>
              </a:rPr>
              <a:t>ARIMA(0,1,0)</a:t>
            </a:r>
            <a:endParaRPr>
              <a:solidFill>
                <a:srgbClr val="CC4125"/>
              </a:solidFill>
            </a:endParaRPr>
          </a:p>
        </p:txBody>
      </p:sp>
      <p:pic>
        <p:nvPicPr>
          <p:cNvPr id="121" name="Google Shape;121;p19"/>
          <p:cNvPicPr preferRelativeResize="0"/>
          <p:nvPr/>
        </p:nvPicPr>
        <p:blipFill>
          <a:blip r:embed="rId4">
            <a:alphaModFix/>
          </a:blip>
          <a:stretch>
            <a:fillRect/>
          </a:stretch>
        </p:blipFill>
        <p:spPr>
          <a:xfrm>
            <a:off x="9" y="873338"/>
            <a:ext cx="4166284" cy="1370400"/>
          </a:xfrm>
          <a:prstGeom prst="rect">
            <a:avLst/>
          </a:prstGeom>
          <a:noFill/>
          <a:ln>
            <a:noFill/>
          </a:ln>
        </p:spPr>
      </p:pic>
      <p:pic>
        <p:nvPicPr>
          <p:cNvPr id="122" name="Google Shape;122;p19"/>
          <p:cNvPicPr preferRelativeResize="0"/>
          <p:nvPr/>
        </p:nvPicPr>
        <p:blipFill>
          <a:blip r:embed="rId5">
            <a:alphaModFix/>
          </a:blip>
          <a:stretch>
            <a:fillRect/>
          </a:stretch>
        </p:blipFill>
        <p:spPr>
          <a:xfrm>
            <a:off x="0" y="3316073"/>
            <a:ext cx="4166301" cy="1359452"/>
          </a:xfrm>
          <a:prstGeom prst="rect">
            <a:avLst/>
          </a:prstGeom>
          <a:noFill/>
          <a:ln>
            <a:noFill/>
          </a:ln>
        </p:spPr>
      </p:pic>
      <p:pic>
        <p:nvPicPr>
          <p:cNvPr id="123" name="Google Shape;123;p19"/>
          <p:cNvPicPr preferRelativeResize="0"/>
          <p:nvPr/>
        </p:nvPicPr>
        <p:blipFill rotWithShape="1">
          <a:blip r:embed="rId6">
            <a:alphaModFix/>
          </a:blip>
          <a:srcRect b="-1649" l="0" r="0" t="1650"/>
          <a:stretch/>
        </p:blipFill>
        <p:spPr>
          <a:xfrm>
            <a:off x="4919638" y="3264250"/>
            <a:ext cx="2345906" cy="1755875"/>
          </a:xfrm>
          <a:prstGeom prst="rect">
            <a:avLst/>
          </a:prstGeom>
          <a:noFill/>
          <a:ln>
            <a:noFill/>
          </a:ln>
        </p:spPr>
      </p:pic>
      <p:pic>
        <p:nvPicPr>
          <p:cNvPr id="124" name="Google Shape;124;p19"/>
          <p:cNvPicPr preferRelativeResize="0"/>
          <p:nvPr/>
        </p:nvPicPr>
        <p:blipFill>
          <a:blip r:embed="rId7">
            <a:alphaModFix/>
          </a:blip>
          <a:stretch>
            <a:fillRect/>
          </a:stretch>
        </p:blipFill>
        <p:spPr>
          <a:xfrm>
            <a:off x="7336425" y="3395637"/>
            <a:ext cx="1807500" cy="1403589"/>
          </a:xfrm>
          <a:prstGeom prst="rect">
            <a:avLst/>
          </a:prstGeom>
          <a:noFill/>
          <a:ln>
            <a:noFill/>
          </a:ln>
        </p:spPr>
      </p:pic>
      <p:pic>
        <p:nvPicPr>
          <p:cNvPr id="125" name="Google Shape;125;p19"/>
          <p:cNvPicPr preferRelativeResize="0"/>
          <p:nvPr/>
        </p:nvPicPr>
        <p:blipFill>
          <a:blip r:embed="rId8">
            <a:alphaModFix/>
          </a:blip>
          <a:stretch>
            <a:fillRect/>
          </a:stretch>
        </p:blipFill>
        <p:spPr>
          <a:xfrm>
            <a:off x="5205663" y="894082"/>
            <a:ext cx="3349324" cy="1561605"/>
          </a:xfrm>
          <a:prstGeom prst="rect">
            <a:avLst/>
          </a:prstGeom>
          <a:noFill/>
          <a:ln>
            <a:noFill/>
          </a:ln>
        </p:spPr>
      </p:pic>
      <p:sp>
        <p:nvSpPr>
          <p:cNvPr id="126" name="Google Shape;126;p19"/>
          <p:cNvSpPr txBox="1"/>
          <p:nvPr/>
        </p:nvSpPr>
        <p:spPr>
          <a:xfrm>
            <a:off x="982575" y="7275"/>
            <a:ext cx="756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Comprehensive Analysis of ARIMA Models（FRCB）</a:t>
            </a:r>
            <a:endParaRPr b="1" sz="1800">
              <a:solidFill>
                <a:srgbClr val="43434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0"/>
          <p:cNvPicPr preferRelativeResize="0"/>
          <p:nvPr/>
        </p:nvPicPr>
        <p:blipFill>
          <a:blip r:embed="rId3">
            <a:alphaModFix/>
          </a:blip>
          <a:stretch>
            <a:fillRect/>
          </a:stretch>
        </p:blipFill>
        <p:spPr>
          <a:xfrm>
            <a:off x="0" y="0"/>
            <a:ext cx="9144000" cy="476250"/>
          </a:xfrm>
          <a:prstGeom prst="rect">
            <a:avLst/>
          </a:prstGeom>
          <a:noFill/>
          <a:ln>
            <a:noFill/>
          </a:ln>
        </p:spPr>
      </p:pic>
      <p:sp>
        <p:nvSpPr>
          <p:cNvPr id="132" name="Google Shape;132;p20"/>
          <p:cNvSpPr txBox="1"/>
          <p:nvPr/>
        </p:nvSpPr>
        <p:spPr>
          <a:xfrm>
            <a:off x="982575" y="7275"/>
            <a:ext cx="756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Comprehensive Analysis of ARIMA Models（FRCB）</a:t>
            </a:r>
            <a:endParaRPr b="1" sz="1800">
              <a:solidFill>
                <a:srgbClr val="434343"/>
              </a:solidFill>
            </a:endParaRPr>
          </a:p>
        </p:txBody>
      </p:sp>
      <p:sp>
        <p:nvSpPr>
          <p:cNvPr id="133" name="Google Shape;133;p20"/>
          <p:cNvSpPr txBox="1"/>
          <p:nvPr/>
        </p:nvSpPr>
        <p:spPr>
          <a:xfrm>
            <a:off x="204075" y="259050"/>
            <a:ext cx="7812900" cy="209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sz="1300">
              <a:solidFill>
                <a:schemeClr val="dk1"/>
              </a:solidFill>
            </a:endParaRPr>
          </a:p>
          <a:p>
            <a:pPr indent="0" lvl="0" marL="0" rtl="0" algn="l">
              <a:lnSpc>
                <a:spcPct val="115000"/>
              </a:lnSpc>
              <a:spcBef>
                <a:spcPts val="1300"/>
              </a:spcBef>
              <a:spcAft>
                <a:spcPts val="0"/>
              </a:spcAft>
              <a:buNone/>
            </a:pPr>
            <a:r>
              <a:rPr b="1" lang="en-GB" sz="1300">
                <a:solidFill>
                  <a:schemeClr val="dk1"/>
                </a:solidFill>
              </a:rPr>
              <a:t>Interpretation of Metrics:</a:t>
            </a:r>
            <a:endParaRPr b="1" sz="1300">
              <a:solidFill>
                <a:schemeClr val="dk1"/>
              </a:solidFill>
            </a:endParaRPr>
          </a:p>
          <a:p>
            <a:pPr indent="-311150" lvl="0" marL="457200" rtl="0" algn="l">
              <a:lnSpc>
                <a:spcPct val="115000"/>
              </a:lnSpc>
              <a:spcBef>
                <a:spcPts val="1300"/>
              </a:spcBef>
              <a:spcAft>
                <a:spcPts val="0"/>
              </a:spcAft>
              <a:buClr>
                <a:schemeClr val="dk1"/>
              </a:buClr>
              <a:buSzPts val="1300"/>
              <a:buChar char="●"/>
            </a:pPr>
            <a:r>
              <a:rPr b="1" lang="en-GB" sz="1300">
                <a:solidFill>
                  <a:schemeClr val="dk1"/>
                </a:solidFill>
              </a:rPr>
              <a:t>RMSE (4.20):</a:t>
            </a:r>
            <a:r>
              <a:rPr lang="en-GB" sz="1300">
                <a:solidFill>
                  <a:schemeClr val="dk1"/>
                </a:solidFill>
              </a:rPr>
              <a:t> Here, an RMSE of 4.20 suggests the forecast deviates from the actual values by around 4.2 percentage points on average, which is relatively low.</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GB" sz="1300">
                <a:solidFill>
                  <a:schemeClr val="dk1"/>
                </a:solidFill>
              </a:rPr>
              <a:t>MAPE (3.73%):</a:t>
            </a:r>
            <a:r>
              <a:rPr lang="en-GB" sz="1300">
                <a:solidFill>
                  <a:schemeClr val="dk1"/>
                </a:solidFill>
              </a:rPr>
              <a:t> MAPE indicates the percentage error on average between the forecasted and actual values. A MAPE of 3.73% is quite low, indicating good predictive accuracy, as MAPE values below 5% are generally considered excellent in time series forecasting.</a:t>
            </a:r>
            <a:endParaRPr sz="1300">
              <a:solidFill>
                <a:schemeClr val="dk1"/>
              </a:solidFill>
            </a:endParaRPr>
          </a:p>
        </p:txBody>
      </p:sp>
      <p:sp>
        <p:nvSpPr>
          <p:cNvPr id="134" name="Google Shape;134;p20"/>
          <p:cNvSpPr txBox="1"/>
          <p:nvPr/>
        </p:nvSpPr>
        <p:spPr>
          <a:xfrm>
            <a:off x="174975" y="2460950"/>
            <a:ext cx="8232900" cy="1932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300"/>
              </a:spcBef>
              <a:spcAft>
                <a:spcPts val="0"/>
              </a:spcAft>
              <a:buNone/>
            </a:pPr>
            <a:r>
              <a:rPr b="1" lang="en-GB" sz="1300">
                <a:solidFill>
                  <a:schemeClr val="dk1"/>
                </a:solidFill>
              </a:rPr>
              <a:t>Performance Interpretation:</a:t>
            </a:r>
            <a:endParaRPr b="1" sz="1300">
              <a:solidFill>
                <a:schemeClr val="dk1"/>
              </a:solidFill>
            </a:endParaRPr>
          </a:p>
          <a:p>
            <a:pPr indent="-311150" lvl="0" marL="457200" rtl="0" algn="l">
              <a:lnSpc>
                <a:spcPct val="115000"/>
              </a:lnSpc>
              <a:spcBef>
                <a:spcPts val="1300"/>
              </a:spcBef>
              <a:spcAft>
                <a:spcPts val="0"/>
              </a:spcAft>
              <a:buClr>
                <a:schemeClr val="dk1"/>
              </a:buClr>
              <a:buSzPts val="1300"/>
              <a:buChar char="●"/>
            </a:pPr>
            <a:r>
              <a:rPr b="1" lang="en-GB" sz="1300">
                <a:solidFill>
                  <a:schemeClr val="dk1"/>
                </a:solidFill>
              </a:rPr>
              <a:t>Trend Alignment:</a:t>
            </a:r>
            <a:r>
              <a:rPr lang="en-GB" sz="1300">
                <a:solidFill>
                  <a:schemeClr val="dk1"/>
                </a:solidFill>
              </a:rPr>
              <a:t> The ARIMA model captures the overall trend well, initially aligning with the downward trend in the actual values. However, the model's upward trend in the forecast period is somewhat shallower than the actual recovery observed in 2022 and 2023.</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GB" sz="1300">
                <a:solidFill>
                  <a:schemeClr val="dk1"/>
                </a:solidFill>
              </a:rPr>
              <a:t>Forecast Accuracy:</a:t>
            </a:r>
            <a:r>
              <a:rPr lang="en-GB" sz="1300">
                <a:solidFill>
                  <a:schemeClr val="dk1"/>
                </a:solidFill>
              </a:rPr>
              <a:t> The small deviations indicate that the ARIMA model is relatively accurate, but it slightly underestimates the sharpness of the upward trend in 2022. This underestimation is visible as the actual data rises more steeply than the forecasted data.</a:t>
            </a:r>
            <a:endParaRPr sz="1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id="139" name="Google Shape;139;p21"/>
          <p:cNvPicPr preferRelativeResize="0"/>
          <p:nvPr/>
        </p:nvPicPr>
        <p:blipFill>
          <a:blip r:embed="rId3">
            <a:alphaModFix/>
          </a:blip>
          <a:stretch>
            <a:fillRect/>
          </a:stretch>
        </p:blipFill>
        <p:spPr>
          <a:xfrm>
            <a:off x="0" y="0"/>
            <a:ext cx="9144000" cy="476250"/>
          </a:xfrm>
          <a:prstGeom prst="rect">
            <a:avLst/>
          </a:prstGeom>
          <a:noFill/>
          <a:ln>
            <a:noFill/>
          </a:ln>
        </p:spPr>
      </p:pic>
      <p:sp>
        <p:nvSpPr>
          <p:cNvPr id="140" name="Google Shape;140;p21"/>
          <p:cNvSpPr/>
          <p:nvPr/>
        </p:nvSpPr>
        <p:spPr>
          <a:xfrm>
            <a:off x="1881950" y="2365975"/>
            <a:ext cx="406500" cy="569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1" name="Google Shape;141;p21"/>
          <p:cNvSpPr/>
          <p:nvPr/>
        </p:nvSpPr>
        <p:spPr>
          <a:xfrm>
            <a:off x="4202863" y="3812650"/>
            <a:ext cx="645900" cy="452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21"/>
          <p:cNvSpPr/>
          <p:nvPr/>
        </p:nvSpPr>
        <p:spPr>
          <a:xfrm>
            <a:off x="6768438" y="2471050"/>
            <a:ext cx="406500" cy="4764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1"/>
          <p:cNvSpPr txBox="1"/>
          <p:nvPr/>
        </p:nvSpPr>
        <p:spPr>
          <a:xfrm>
            <a:off x="1798850" y="478825"/>
            <a:ext cx="5727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rPr>
              <a:t>ACF</a:t>
            </a:r>
            <a:endParaRPr sz="1300">
              <a:solidFill>
                <a:schemeClr val="dk2"/>
              </a:solidFill>
            </a:endParaRPr>
          </a:p>
        </p:txBody>
      </p:sp>
      <p:sp>
        <p:nvSpPr>
          <p:cNvPr id="144" name="Google Shape;144;p21"/>
          <p:cNvSpPr txBox="1"/>
          <p:nvPr/>
        </p:nvSpPr>
        <p:spPr>
          <a:xfrm>
            <a:off x="6425100" y="478825"/>
            <a:ext cx="10932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rPr>
              <a:t>FORECAST</a:t>
            </a:r>
            <a:endParaRPr sz="1300">
              <a:solidFill>
                <a:schemeClr val="dk2"/>
              </a:solidFill>
            </a:endParaRPr>
          </a:p>
        </p:txBody>
      </p:sp>
      <p:sp>
        <p:nvSpPr>
          <p:cNvPr id="145" name="Google Shape;145;p21"/>
          <p:cNvSpPr txBox="1"/>
          <p:nvPr/>
        </p:nvSpPr>
        <p:spPr>
          <a:xfrm>
            <a:off x="1762250" y="2935088"/>
            <a:ext cx="6459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300">
                <a:solidFill>
                  <a:schemeClr val="dk2"/>
                </a:solidFill>
              </a:rPr>
              <a:t>PACF</a:t>
            </a:r>
            <a:endParaRPr sz="1300">
              <a:solidFill>
                <a:schemeClr val="dk2"/>
              </a:solidFill>
            </a:endParaRPr>
          </a:p>
        </p:txBody>
      </p:sp>
      <p:sp>
        <p:nvSpPr>
          <p:cNvPr id="146" name="Google Shape;146;p21"/>
          <p:cNvSpPr txBox="1"/>
          <p:nvPr/>
        </p:nvSpPr>
        <p:spPr>
          <a:xfrm>
            <a:off x="6323550" y="2897650"/>
            <a:ext cx="12963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300">
                <a:solidFill>
                  <a:schemeClr val="dk2"/>
                </a:solidFill>
              </a:rPr>
              <a:t>Ljung-Box Test</a:t>
            </a:r>
            <a:endParaRPr sz="1300">
              <a:solidFill>
                <a:schemeClr val="dk2"/>
              </a:solidFill>
            </a:endParaRPr>
          </a:p>
        </p:txBody>
      </p:sp>
      <p:sp>
        <p:nvSpPr>
          <p:cNvPr id="147" name="Google Shape;147;p21"/>
          <p:cNvSpPr txBox="1"/>
          <p:nvPr/>
        </p:nvSpPr>
        <p:spPr>
          <a:xfrm>
            <a:off x="-8650" y="2550338"/>
            <a:ext cx="1807500" cy="4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CC4125"/>
              </a:solidFill>
            </a:endParaRPr>
          </a:p>
        </p:txBody>
      </p:sp>
      <p:pic>
        <p:nvPicPr>
          <p:cNvPr id="148" name="Google Shape;148;p21"/>
          <p:cNvPicPr preferRelativeResize="0"/>
          <p:nvPr/>
        </p:nvPicPr>
        <p:blipFill rotWithShape="1">
          <a:blip r:embed="rId4">
            <a:alphaModFix/>
          </a:blip>
          <a:srcRect b="-2810" l="0" r="0" t="2810"/>
          <a:stretch/>
        </p:blipFill>
        <p:spPr>
          <a:xfrm>
            <a:off x="2050" y="807739"/>
            <a:ext cx="4166299" cy="1384172"/>
          </a:xfrm>
          <a:prstGeom prst="rect">
            <a:avLst/>
          </a:prstGeom>
          <a:noFill/>
          <a:ln>
            <a:noFill/>
          </a:ln>
        </p:spPr>
      </p:pic>
      <p:pic>
        <p:nvPicPr>
          <p:cNvPr id="149" name="Google Shape;149;p21"/>
          <p:cNvPicPr preferRelativeResize="0"/>
          <p:nvPr/>
        </p:nvPicPr>
        <p:blipFill>
          <a:blip r:embed="rId5">
            <a:alphaModFix/>
          </a:blip>
          <a:stretch>
            <a:fillRect/>
          </a:stretch>
        </p:blipFill>
        <p:spPr>
          <a:xfrm>
            <a:off x="36575" y="3343167"/>
            <a:ext cx="4166301" cy="1391071"/>
          </a:xfrm>
          <a:prstGeom prst="rect">
            <a:avLst/>
          </a:prstGeom>
          <a:noFill/>
          <a:ln>
            <a:noFill/>
          </a:ln>
        </p:spPr>
      </p:pic>
      <p:pic>
        <p:nvPicPr>
          <p:cNvPr id="150" name="Google Shape;150;p21"/>
          <p:cNvPicPr preferRelativeResize="0"/>
          <p:nvPr/>
        </p:nvPicPr>
        <p:blipFill>
          <a:blip r:embed="rId6">
            <a:alphaModFix/>
          </a:blip>
          <a:stretch>
            <a:fillRect/>
          </a:stretch>
        </p:blipFill>
        <p:spPr>
          <a:xfrm>
            <a:off x="4929513" y="3217655"/>
            <a:ext cx="2326175" cy="1759532"/>
          </a:xfrm>
          <a:prstGeom prst="rect">
            <a:avLst/>
          </a:prstGeom>
          <a:noFill/>
          <a:ln>
            <a:noFill/>
          </a:ln>
        </p:spPr>
      </p:pic>
      <p:pic>
        <p:nvPicPr>
          <p:cNvPr id="151" name="Google Shape;151;p21"/>
          <p:cNvPicPr preferRelativeResize="0"/>
          <p:nvPr/>
        </p:nvPicPr>
        <p:blipFill>
          <a:blip r:embed="rId7">
            <a:alphaModFix/>
          </a:blip>
          <a:stretch>
            <a:fillRect/>
          </a:stretch>
        </p:blipFill>
        <p:spPr>
          <a:xfrm>
            <a:off x="7255692" y="3300524"/>
            <a:ext cx="1867158" cy="1476350"/>
          </a:xfrm>
          <a:prstGeom prst="rect">
            <a:avLst/>
          </a:prstGeom>
          <a:noFill/>
          <a:ln>
            <a:noFill/>
          </a:ln>
        </p:spPr>
      </p:pic>
      <p:pic>
        <p:nvPicPr>
          <p:cNvPr id="152" name="Google Shape;152;p21"/>
          <p:cNvPicPr preferRelativeResize="0"/>
          <p:nvPr/>
        </p:nvPicPr>
        <p:blipFill>
          <a:blip r:embed="rId8">
            <a:alphaModFix/>
          </a:blip>
          <a:stretch>
            <a:fillRect/>
          </a:stretch>
        </p:blipFill>
        <p:spPr>
          <a:xfrm>
            <a:off x="5201150" y="807737"/>
            <a:ext cx="3541082" cy="1631450"/>
          </a:xfrm>
          <a:prstGeom prst="rect">
            <a:avLst/>
          </a:prstGeom>
          <a:noFill/>
          <a:ln>
            <a:noFill/>
          </a:ln>
        </p:spPr>
      </p:pic>
      <p:sp>
        <p:nvSpPr>
          <p:cNvPr id="153" name="Google Shape;153;p21"/>
          <p:cNvSpPr txBox="1"/>
          <p:nvPr/>
        </p:nvSpPr>
        <p:spPr>
          <a:xfrm>
            <a:off x="982575" y="7275"/>
            <a:ext cx="756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solidFill>
                  <a:srgbClr val="434343"/>
                </a:solidFill>
              </a:rPr>
              <a:t>Comprehensive Analysis of ARIMA Models（USB）</a:t>
            </a:r>
            <a:endParaRPr b="1" sz="1800">
              <a:solidFill>
                <a:srgbClr val="434343"/>
              </a:solidFill>
            </a:endParaRPr>
          </a:p>
        </p:txBody>
      </p:sp>
      <p:sp>
        <p:nvSpPr>
          <p:cNvPr id="154" name="Google Shape;154;p21"/>
          <p:cNvSpPr txBox="1"/>
          <p:nvPr/>
        </p:nvSpPr>
        <p:spPr>
          <a:xfrm>
            <a:off x="4202875" y="558725"/>
            <a:ext cx="1356300" cy="38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rgbClr val="CC4125"/>
                </a:solidFill>
              </a:rPr>
              <a:t>ARIMA(0,1,0)</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22"/>
          <p:cNvPicPr preferRelativeResize="0"/>
          <p:nvPr/>
        </p:nvPicPr>
        <p:blipFill>
          <a:blip r:embed="rId3">
            <a:alphaModFix/>
          </a:blip>
          <a:stretch>
            <a:fillRect/>
          </a:stretch>
        </p:blipFill>
        <p:spPr>
          <a:xfrm>
            <a:off x="0" y="0"/>
            <a:ext cx="9144000" cy="476250"/>
          </a:xfrm>
          <a:prstGeom prst="rect">
            <a:avLst/>
          </a:prstGeom>
          <a:noFill/>
          <a:ln>
            <a:noFill/>
          </a:ln>
        </p:spPr>
      </p:pic>
      <p:sp>
        <p:nvSpPr>
          <p:cNvPr id="160" name="Google Shape;160;p22"/>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Compare</a:t>
            </a:r>
            <a:endParaRPr b="1" sz="1800">
              <a:solidFill>
                <a:srgbClr val="434343"/>
              </a:solidFill>
            </a:endParaRPr>
          </a:p>
        </p:txBody>
      </p:sp>
      <p:sp>
        <p:nvSpPr>
          <p:cNvPr id="161" name="Google Shape;161;p22"/>
          <p:cNvSpPr txBox="1"/>
          <p:nvPr/>
        </p:nvSpPr>
        <p:spPr>
          <a:xfrm>
            <a:off x="132775" y="540000"/>
            <a:ext cx="44286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dk2"/>
                </a:solidFill>
              </a:rPr>
              <a:t>· FCNCA </a:t>
            </a:r>
            <a:endParaRPr b="1" sz="1300">
              <a:solidFill>
                <a:schemeClr val="dk2"/>
              </a:solidFill>
            </a:endParaRPr>
          </a:p>
        </p:txBody>
      </p:sp>
      <p:sp>
        <p:nvSpPr>
          <p:cNvPr id="162" name="Google Shape;162;p22"/>
          <p:cNvSpPr txBox="1"/>
          <p:nvPr/>
        </p:nvSpPr>
        <p:spPr>
          <a:xfrm>
            <a:off x="5366650" y="540000"/>
            <a:ext cx="41439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300">
                <a:solidFill>
                  <a:schemeClr val="dk2"/>
                </a:solidFill>
              </a:rPr>
              <a:t>· FIFTH THIRD </a:t>
            </a:r>
            <a:endParaRPr b="1" sz="1300">
              <a:solidFill>
                <a:schemeClr val="dk2"/>
              </a:solidFill>
            </a:endParaRPr>
          </a:p>
        </p:txBody>
      </p:sp>
      <p:sp>
        <p:nvSpPr>
          <p:cNvPr id="163" name="Google Shape;163;p22"/>
          <p:cNvSpPr txBox="1"/>
          <p:nvPr/>
        </p:nvSpPr>
        <p:spPr>
          <a:xfrm>
            <a:off x="319350" y="1016400"/>
            <a:ext cx="1531800" cy="1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dk2"/>
                </a:solidFill>
              </a:rPr>
              <a:t>forecast</a:t>
            </a:r>
            <a:endParaRPr sz="1200" u="sng">
              <a:solidFill>
                <a:schemeClr val="dk2"/>
              </a:solidFill>
            </a:endParaRPr>
          </a:p>
        </p:txBody>
      </p:sp>
      <p:sp>
        <p:nvSpPr>
          <p:cNvPr id="164" name="Google Shape;164;p22"/>
          <p:cNvSpPr txBox="1"/>
          <p:nvPr/>
        </p:nvSpPr>
        <p:spPr>
          <a:xfrm>
            <a:off x="5425575" y="1016400"/>
            <a:ext cx="1531800" cy="1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dk2"/>
                </a:solidFill>
              </a:rPr>
              <a:t>forecast</a:t>
            </a:r>
            <a:endParaRPr sz="1200" u="sng">
              <a:solidFill>
                <a:schemeClr val="dk2"/>
              </a:solidFill>
            </a:endParaRPr>
          </a:p>
        </p:txBody>
      </p:sp>
      <p:sp>
        <p:nvSpPr>
          <p:cNvPr id="165" name="Google Shape;165;p22"/>
          <p:cNvSpPr txBox="1"/>
          <p:nvPr/>
        </p:nvSpPr>
        <p:spPr>
          <a:xfrm>
            <a:off x="319350" y="2820575"/>
            <a:ext cx="1531800" cy="19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200" u="sng">
                <a:solidFill>
                  <a:schemeClr val="dk2"/>
                </a:solidFill>
              </a:rPr>
              <a:t>model</a:t>
            </a:r>
            <a:endParaRPr sz="1200" u="sng">
              <a:solidFill>
                <a:schemeClr val="dk2"/>
              </a:solidFill>
            </a:endParaRPr>
          </a:p>
        </p:txBody>
      </p:sp>
      <p:pic>
        <p:nvPicPr>
          <p:cNvPr id="166" name="Google Shape;166;p22"/>
          <p:cNvPicPr preferRelativeResize="0"/>
          <p:nvPr/>
        </p:nvPicPr>
        <p:blipFill>
          <a:blip r:embed="rId4">
            <a:alphaModFix/>
          </a:blip>
          <a:stretch>
            <a:fillRect/>
          </a:stretch>
        </p:blipFill>
        <p:spPr>
          <a:xfrm>
            <a:off x="0" y="1346450"/>
            <a:ext cx="4227775" cy="1938100"/>
          </a:xfrm>
          <a:prstGeom prst="rect">
            <a:avLst/>
          </a:prstGeom>
          <a:noFill/>
          <a:ln>
            <a:noFill/>
          </a:ln>
        </p:spPr>
      </p:pic>
      <p:pic>
        <p:nvPicPr>
          <p:cNvPr id="167" name="Google Shape;167;p22"/>
          <p:cNvPicPr preferRelativeResize="0"/>
          <p:nvPr/>
        </p:nvPicPr>
        <p:blipFill>
          <a:blip r:embed="rId5">
            <a:alphaModFix/>
          </a:blip>
          <a:stretch>
            <a:fillRect/>
          </a:stretch>
        </p:blipFill>
        <p:spPr>
          <a:xfrm>
            <a:off x="4715400" y="1308587"/>
            <a:ext cx="4428601" cy="2013838"/>
          </a:xfrm>
          <a:prstGeom prst="rect">
            <a:avLst/>
          </a:prstGeom>
          <a:noFill/>
          <a:ln>
            <a:noFill/>
          </a:ln>
        </p:spPr>
      </p:pic>
      <p:sp>
        <p:nvSpPr>
          <p:cNvPr id="168" name="Google Shape;168;p22"/>
          <p:cNvSpPr txBox="1"/>
          <p:nvPr/>
        </p:nvSpPr>
        <p:spPr>
          <a:xfrm>
            <a:off x="989450" y="3716975"/>
            <a:ext cx="7382700" cy="126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450">
                <a:solidFill>
                  <a:schemeClr val="dk1"/>
                </a:solidFill>
              </a:rPr>
              <a:t>In conclusion, through ACF and PACF analysis, Ljung-Box test and Forecasts, ARIMA model has some shortcomings and has some room for improvement.</a:t>
            </a:r>
            <a:endParaRPr sz="145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450">
                <a:solidFill>
                  <a:schemeClr val="dk1"/>
                </a:solidFill>
              </a:rPr>
              <a:t>Next, we will show the VAR and VECM Models for predicting more accurately.</a:t>
            </a:r>
            <a:endParaRPr sz="1450">
              <a:solidFill>
                <a:schemeClr val="dk1"/>
              </a:solidFill>
            </a:endParaRPr>
          </a:p>
          <a:p>
            <a:pPr indent="0" lvl="0" marL="0" rtl="0" algn="l">
              <a:spcBef>
                <a:spcPts val="120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23"/>
          <p:cNvPicPr preferRelativeResize="0"/>
          <p:nvPr/>
        </p:nvPicPr>
        <p:blipFill>
          <a:blip r:embed="rId3">
            <a:alphaModFix/>
          </a:blip>
          <a:stretch>
            <a:fillRect/>
          </a:stretch>
        </p:blipFill>
        <p:spPr>
          <a:xfrm>
            <a:off x="0" y="0"/>
            <a:ext cx="9144000" cy="476250"/>
          </a:xfrm>
          <a:prstGeom prst="rect">
            <a:avLst/>
          </a:prstGeom>
          <a:noFill/>
          <a:ln>
            <a:noFill/>
          </a:ln>
        </p:spPr>
      </p:pic>
      <p:pic>
        <p:nvPicPr>
          <p:cNvPr id="174" name="Google Shape;174;p23"/>
          <p:cNvPicPr preferRelativeResize="0"/>
          <p:nvPr/>
        </p:nvPicPr>
        <p:blipFill>
          <a:blip r:embed="rId4">
            <a:alphaModFix/>
          </a:blip>
          <a:stretch>
            <a:fillRect/>
          </a:stretch>
        </p:blipFill>
        <p:spPr>
          <a:xfrm>
            <a:off x="139625" y="1421650"/>
            <a:ext cx="5509700" cy="2556001"/>
          </a:xfrm>
          <a:prstGeom prst="rect">
            <a:avLst/>
          </a:prstGeom>
          <a:noFill/>
          <a:ln>
            <a:noFill/>
          </a:ln>
        </p:spPr>
      </p:pic>
      <p:sp>
        <p:nvSpPr>
          <p:cNvPr id="175" name="Google Shape;175;p23"/>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USB）</a:t>
            </a:r>
            <a:endParaRPr b="1" sz="1800">
              <a:solidFill>
                <a:srgbClr val="434343"/>
              </a:solidFill>
            </a:endParaRPr>
          </a:p>
        </p:txBody>
      </p:sp>
      <p:sp>
        <p:nvSpPr>
          <p:cNvPr id="176" name="Google Shape;176;p23"/>
          <p:cNvSpPr txBox="1"/>
          <p:nvPr/>
        </p:nvSpPr>
        <p:spPr>
          <a:xfrm>
            <a:off x="139636" y="575650"/>
            <a:ext cx="5239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ADF test &amp; use BIC</a:t>
            </a:r>
            <a:endParaRPr sz="1800" u="sng">
              <a:solidFill>
                <a:schemeClr val="dk2"/>
              </a:solidFill>
            </a:endParaRPr>
          </a:p>
        </p:txBody>
      </p:sp>
      <p:sp>
        <p:nvSpPr>
          <p:cNvPr id="177" name="Google Shape;177;p23"/>
          <p:cNvSpPr txBox="1"/>
          <p:nvPr/>
        </p:nvSpPr>
        <p:spPr>
          <a:xfrm>
            <a:off x="5813575" y="1328200"/>
            <a:ext cx="3054600" cy="27429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rgbClr val="111A18"/>
                </a:solidFill>
              </a:rPr>
              <a:t>1. Data Preparation and Differencing</a:t>
            </a:r>
            <a:endParaRPr sz="1200">
              <a:solidFill>
                <a:srgbClr val="111A18"/>
              </a:solidFill>
            </a:endParaRPr>
          </a:p>
          <a:p>
            <a:pPr indent="-304800" lvl="0" marL="457200" rtl="0" algn="l">
              <a:lnSpc>
                <a:spcPct val="115000"/>
              </a:lnSpc>
              <a:spcBef>
                <a:spcPts val="1200"/>
              </a:spcBef>
              <a:spcAft>
                <a:spcPts val="0"/>
              </a:spcAft>
              <a:buClr>
                <a:srgbClr val="111A18"/>
              </a:buClr>
              <a:buSzPts val="1200"/>
              <a:buChar char="●"/>
            </a:pPr>
            <a:r>
              <a:rPr lang="en-GB" sz="1200">
                <a:solidFill>
                  <a:srgbClr val="111A18"/>
                </a:solidFill>
              </a:rPr>
              <a:t>[80:20] </a:t>
            </a:r>
            <a:r>
              <a:rPr lang="en-GB" sz="1200">
                <a:solidFill>
                  <a:srgbClr val="111A18"/>
                </a:solidFill>
              </a:rPr>
              <a:t>Data Split : </a:t>
            </a:r>
            <a:r>
              <a:rPr lang="en-GB" sz="1200">
                <a:solidFill>
                  <a:srgbClr val="111A18"/>
                </a:solidFill>
              </a:rPr>
              <a:t>USB Bank</a:t>
            </a:r>
            <a:endParaRPr sz="1200">
              <a:solidFill>
                <a:srgbClr val="111A18"/>
              </a:solidFill>
            </a:endParaRPr>
          </a:p>
          <a:p>
            <a:pPr indent="-304800" lvl="0" marL="457200" rtl="0" algn="l">
              <a:lnSpc>
                <a:spcPct val="115000"/>
              </a:lnSpc>
              <a:spcBef>
                <a:spcPts val="0"/>
              </a:spcBef>
              <a:spcAft>
                <a:spcPts val="0"/>
              </a:spcAft>
              <a:buClr>
                <a:srgbClr val="111A18"/>
              </a:buClr>
              <a:buSzPts val="1200"/>
              <a:buChar char="●"/>
            </a:pPr>
            <a:r>
              <a:rPr lang="en-GB" sz="1200">
                <a:solidFill>
                  <a:srgbClr val="111A18"/>
                </a:solidFill>
              </a:rPr>
              <a:t>Augmented Dickey-Fuller (ADF) test; </a:t>
            </a:r>
            <a:endParaRPr sz="1200">
              <a:solidFill>
                <a:srgbClr val="111A18"/>
              </a:solidFill>
            </a:endParaRPr>
          </a:p>
          <a:p>
            <a:pPr indent="-304800" lvl="0" marL="457200" rtl="0" algn="l">
              <a:lnSpc>
                <a:spcPct val="115000"/>
              </a:lnSpc>
              <a:spcBef>
                <a:spcPts val="0"/>
              </a:spcBef>
              <a:spcAft>
                <a:spcPts val="0"/>
              </a:spcAft>
              <a:buClr>
                <a:srgbClr val="111A18"/>
              </a:buClr>
              <a:buSzPts val="1200"/>
              <a:buChar char="●"/>
            </a:pPr>
            <a:r>
              <a:rPr lang="en-GB" sz="1200">
                <a:solidFill>
                  <a:srgbClr val="111A18"/>
                </a:solidFill>
              </a:rPr>
              <a:t>differencing to variables until they became stable</a:t>
            </a:r>
            <a:endParaRPr sz="1200">
              <a:solidFill>
                <a:srgbClr val="111A18"/>
              </a:solidFill>
            </a:endParaRPr>
          </a:p>
          <a:p>
            <a:pPr indent="0" lvl="0" marL="0" rtl="0" algn="l">
              <a:lnSpc>
                <a:spcPct val="115000"/>
              </a:lnSpc>
              <a:spcBef>
                <a:spcPts val="1200"/>
              </a:spcBef>
              <a:spcAft>
                <a:spcPts val="0"/>
              </a:spcAft>
              <a:buNone/>
            </a:pPr>
            <a:r>
              <a:rPr lang="en-GB" sz="1200">
                <a:solidFill>
                  <a:srgbClr val="111A18"/>
                </a:solidFill>
              </a:rPr>
              <a:t>2. Selection of Lag Order</a:t>
            </a:r>
            <a:endParaRPr sz="1200">
              <a:solidFill>
                <a:srgbClr val="111A18"/>
              </a:solidFill>
            </a:endParaRPr>
          </a:p>
          <a:p>
            <a:pPr indent="-304800" lvl="0" marL="457200" rtl="0" algn="l">
              <a:lnSpc>
                <a:spcPct val="115000"/>
              </a:lnSpc>
              <a:spcBef>
                <a:spcPts val="1200"/>
              </a:spcBef>
              <a:spcAft>
                <a:spcPts val="0"/>
              </a:spcAft>
              <a:buClr>
                <a:srgbClr val="111A18"/>
              </a:buClr>
              <a:buSzPts val="1200"/>
              <a:buChar char="●"/>
            </a:pPr>
            <a:r>
              <a:rPr lang="en-GB" sz="1200">
                <a:solidFill>
                  <a:srgbClr val="111A18"/>
                </a:solidFill>
              </a:rPr>
              <a:t>a good balance between fitting the data well and keeping the model simple</a:t>
            </a:r>
            <a:endParaRPr sz="1200">
              <a:solidFill>
                <a:srgbClr val="111A18"/>
              </a:solidFill>
            </a:endParaRPr>
          </a:p>
        </p:txBody>
      </p:sp>
      <p:sp>
        <p:nvSpPr>
          <p:cNvPr id="178" name="Google Shape;178;p23"/>
          <p:cNvSpPr/>
          <p:nvPr/>
        </p:nvSpPr>
        <p:spPr>
          <a:xfrm>
            <a:off x="281600" y="3776875"/>
            <a:ext cx="2460000" cy="200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pic>
        <p:nvPicPr>
          <p:cNvPr id="183" name="Google Shape;183;p24"/>
          <p:cNvPicPr preferRelativeResize="0"/>
          <p:nvPr/>
        </p:nvPicPr>
        <p:blipFill rotWithShape="1">
          <a:blip r:embed="rId3">
            <a:alphaModFix/>
          </a:blip>
          <a:srcRect b="0" l="0" r="0" t="26297"/>
          <a:stretch/>
        </p:blipFill>
        <p:spPr>
          <a:xfrm>
            <a:off x="281625" y="2003975"/>
            <a:ext cx="4628674" cy="2969998"/>
          </a:xfrm>
          <a:prstGeom prst="rect">
            <a:avLst/>
          </a:prstGeom>
          <a:noFill/>
          <a:ln>
            <a:noFill/>
          </a:ln>
        </p:spPr>
      </p:pic>
      <p:pic>
        <p:nvPicPr>
          <p:cNvPr id="184" name="Google Shape;184;p24"/>
          <p:cNvPicPr preferRelativeResize="0"/>
          <p:nvPr/>
        </p:nvPicPr>
        <p:blipFill>
          <a:blip r:embed="rId4">
            <a:alphaModFix/>
          </a:blip>
          <a:stretch>
            <a:fillRect/>
          </a:stretch>
        </p:blipFill>
        <p:spPr>
          <a:xfrm>
            <a:off x="0" y="0"/>
            <a:ext cx="9144000" cy="476250"/>
          </a:xfrm>
          <a:prstGeom prst="rect">
            <a:avLst/>
          </a:prstGeom>
          <a:noFill/>
          <a:ln>
            <a:noFill/>
          </a:ln>
        </p:spPr>
      </p:pic>
      <p:pic>
        <p:nvPicPr>
          <p:cNvPr id="185" name="Google Shape;185;p24"/>
          <p:cNvPicPr preferRelativeResize="0"/>
          <p:nvPr/>
        </p:nvPicPr>
        <p:blipFill rotWithShape="1">
          <a:blip r:embed="rId3">
            <a:alphaModFix/>
          </a:blip>
          <a:srcRect b="76362" l="0" r="0" t="0"/>
          <a:stretch/>
        </p:blipFill>
        <p:spPr>
          <a:xfrm>
            <a:off x="281625" y="944300"/>
            <a:ext cx="4628674" cy="952524"/>
          </a:xfrm>
          <a:prstGeom prst="rect">
            <a:avLst/>
          </a:prstGeom>
          <a:noFill/>
          <a:ln>
            <a:noFill/>
          </a:ln>
        </p:spPr>
      </p:pic>
      <p:sp>
        <p:nvSpPr>
          <p:cNvPr id="186" name="Google Shape;186;p24"/>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USB）</a:t>
            </a:r>
            <a:endParaRPr b="1" sz="1800">
              <a:solidFill>
                <a:srgbClr val="434343"/>
              </a:solidFill>
            </a:endParaRPr>
          </a:p>
        </p:txBody>
      </p:sp>
      <p:sp>
        <p:nvSpPr>
          <p:cNvPr id="187" name="Google Shape;187;p24"/>
          <p:cNvSpPr txBox="1"/>
          <p:nvPr/>
        </p:nvSpPr>
        <p:spPr>
          <a:xfrm>
            <a:off x="221565" y="476400"/>
            <a:ext cx="20448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VAR </a:t>
            </a:r>
            <a:r>
              <a:rPr lang="en-GB" sz="1800" u="sng">
                <a:solidFill>
                  <a:schemeClr val="dk2"/>
                </a:solidFill>
              </a:rPr>
              <a:t>model</a:t>
            </a:r>
            <a:endParaRPr sz="1800" u="sng">
              <a:solidFill>
                <a:schemeClr val="dk2"/>
              </a:solidFill>
            </a:endParaRPr>
          </a:p>
        </p:txBody>
      </p:sp>
      <p:sp>
        <p:nvSpPr>
          <p:cNvPr id="188" name="Google Shape;188;p24"/>
          <p:cNvSpPr txBox="1"/>
          <p:nvPr/>
        </p:nvSpPr>
        <p:spPr>
          <a:xfrm>
            <a:off x="6659300" y="2471575"/>
            <a:ext cx="25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89" name="Google Shape;189;p24"/>
          <p:cNvSpPr/>
          <p:nvPr/>
        </p:nvSpPr>
        <p:spPr>
          <a:xfrm>
            <a:off x="3737350" y="2518475"/>
            <a:ext cx="274500" cy="121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 name="Google Shape;190;p24"/>
          <p:cNvSpPr txBox="1"/>
          <p:nvPr/>
        </p:nvSpPr>
        <p:spPr>
          <a:xfrm>
            <a:off x="5393025" y="991375"/>
            <a:ext cx="3350100" cy="32847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rgbClr val="111A18"/>
                </a:solidFill>
              </a:rPr>
              <a:t> 3. Model Training and Parameter Estimation</a:t>
            </a:r>
            <a:endParaRPr sz="1200">
              <a:solidFill>
                <a:srgbClr val="111A18"/>
              </a:solidFill>
            </a:endParaRPr>
          </a:p>
          <a:p>
            <a:pPr indent="-304800" lvl="0" marL="457200" rtl="0" algn="l">
              <a:lnSpc>
                <a:spcPct val="115000"/>
              </a:lnSpc>
              <a:spcBef>
                <a:spcPts val="1200"/>
              </a:spcBef>
              <a:spcAft>
                <a:spcPts val="0"/>
              </a:spcAft>
              <a:buClr>
                <a:schemeClr val="dk1"/>
              </a:buClr>
              <a:buSzPts val="1200"/>
              <a:buChar char="●"/>
            </a:pPr>
            <a:r>
              <a:rPr b="1" lang="en-GB" sz="1200">
                <a:solidFill>
                  <a:schemeClr val="dk1"/>
                </a:solidFill>
              </a:rPr>
              <a:t>Reserve for Loan Losses</a:t>
            </a:r>
            <a:r>
              <a:rPr lang="en-GB" sz="1200">
                <a:solidFill>
                  <a:schemeClr val="dk1"/>
                </a:solidFill>
              </a:rPr>
              <a:t>: When reserves go up, the</a:t>
            </a:r>
            <a:r>
              <a:rPr lang="en-GB" sz="1200">
                <a:solidFill>
                  <a:schemeClr val="dk1"/>
                </a:solidFill>
              </a:rPr>
              <a:t> </a:t>
            </a:r>
            <a:r>
              <a:rPr lang="en-GB" sz="1200">
                <a:solidFill>
                  <a:schemeClr val="dk1"/>
                </a:solidFill>
              </a:rPr>
              <a:t>LDR often goes down, meaning more reserves might reduce lending</a:t>
            </a:r>
            <a:r>
              <a:rPr lang="en-GB" sz="1200">
                <a:solidFill>
                  <a:schemeClr val="dk1"/>
                </a:solidFill>
              </a:rPr>
              <a:t>.</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Non-Performing Loans (NPLs)</a:t>
            </a:r>
            <a:r>
              <a:rPr lang="en-GB" sz="1200">
                <a:solidFill>
                  <a:schemeClr val="dk1"/>
                </a:solidFill>
              </a:rPr>
              <a:t>: Higher NPLs affect the LDR, showing how liquidity risk can impact loan strategy.</a:t>
            </a:r>
            <a:endParaRPr sz="1200">
              <a:solidFill>
                <a:schemeClr val="dk1"/>
              </a:solidFill>
            </a:endParaRPr>
          </a:p>
          <a:p>
            <a:pPr indent="-304800" lvl="0" marL="457200" rtl="0" algn="l">
              <a:lnSpc>
                <a:spcPct val="115000"/>
              </a:lnSpc>
              <a:spcBef>
                <a:spcPts val="0"/>
              </a:spcBef>
              <a:spcAft>
                <a:spcPts val="0"/>
              </a:spcAft>
              <a:buClr>
                <a:schemeClr val="dk1"/>
              </a:buClr>
              <a:buSzPts val="1200"/>
              <a:buChar char="●"/>
            </a:pPr>
            <a:r>
              <a:rPr b="1" lang="en-GB" sz="1200">
                <a:solidFill>
                  <a:schemeClr val="dk1"/>
                </a:solidFill>
              </a:rPr>
              <a:t>Federal Funds Rate</a:t>
            </a:r>
            <a:r>
              <a:rPr lang="en-GB" sz="1200">
                <a:solidFill>
                  <a:schemeClr val="dk1"/>
                </a:solidFill>
              </a:rPr>
              <a:t>: Has a mixed effect on LDR—raising the rate lowers LDR after 2 and 4 periods but increases it after 3 periods, showing a delayed, back-and-forth impact.</a:t>
            </a:r>
            <a:endParaRPr sz="1200">
              <a:solidFill>
                <a:schemeClr val="dk1"/>
              </a:solidFill>
            </a:endParaRPr>
          </a:p>
        </p:txBody>
      </p:sp>
      <p:sp>
        <p:nvSpPr>
          <p:cNvPr id="191" name="Google Shape;191;p24"/>
          <p:cNvSpPr/>
          <p:nvPr/>
        </p:nvSpPr>
        <p:spPr>
          <a:xfrm>
            <a:off x="4572000" y="2687000"/>
            <a:ext cx="274500" cy="121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2" name="Google Shape;192;p24"/>
          <p:cNvSpPr/>
          <p:nvPr/>
        </p:nvSpPr>
        <p:spPr>
          <a:xfrm>
            <a:off x="4572000" y="2056450"/>
            <a:ext cx="274500" cy="121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4"/>
          <p:cNvSpPr/>
          <p:nvPr/>
        </p:nvSpPr>
        <p:spPr>
          <a:xfrm>
            <a:off x="3737350" y="3823250"/>
            <a:ext cx="274500" cy="121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4"/>
          <p:cNvSpPr/>
          <p:nvPr/>
        </p:nvSpPr>
        <p:spPr>
          <a:xfrm>
            <a:off x="4572000" y="3882650"/>
            <a:ext cx="274500" cy="121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 name="Google Shape;195;p24"/>
          <p:cNvSpPr/>
          <p:nvPr/>
        </p:nvSpPr>
        <p:spPr>
          <a:xfrm>
            <a:off x="4572000" y="3026050"/>
            <a:ext cx="274500" cy="121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4"/>
          <p:cNvSpPr/>
          <p:nvPr/>
        </p:nvSpPr>
        <p:spPr>
          <a:xfrm>
            <a:off x="4572000" y="3653725"/>
            <a:ext cx="274500" cy="1212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4"/>
          <p:cNvSpPr/>
          <p:nvPr/>
        </p:nvSpPr>
        <p:spPr>
          <a:xfrm>
            <a:off x="4572000" y="4193600"/>
            <a:ext cx="274500" cy="2460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25"/>
          <p:cNvPicPr preferRelativeResize="0"/>
          <p:nvPr/>
        </p:nvPicPr>
        <p:blipFill>
          <a:blip r:embed="rId3">
            <a:alphaModFix/>
          </a:blip>
          <a:stretch>
            <a:fillRect/>
          </a:stretch>
        </p:blipFill>
        <p:spPr>
          <a:xfrm>
            <a:off x="0" y="0"/>
            <a:ext cx="9144000" cy="476250"/>
          </a:xfrm>
          <a:prstGeom prst="rect">
            <a:avLst/>
          </a:prstGeom>
          <a:noFill/>
          <a:ln>
            <a:noFill/>
          </a:ln>
        </p:spPr>
      </p:pic>
      <p:pic>
        <p:nvPicPr>
          <p:cNvPr id="203" name="Google Shape;203;p25"/>
          <p:cNvPicPr preferRelativeResize="0"/>
          <p:nvPr/>
        </p:nvPicPr>
        <p:blipFill rotWithShape="1">
          <a:blip r:embed="rId4">
            <a:alphaModFix/>
          </a:blip>
          <a:srcRect b="0" l="0" r="0" t="96251"/>
          <a:stretch/>
        </p:blipFill>
        <p:spPr>
          <a:xfrm>
            <a:off x="221675" y="4334708"/>
            <a:ext cx="3031666" cy="173268"/>
          </a:xfrm>
          <a:prstGeom prst="rect">
            <a:avLst/>
          </a:prstGeom>
          <a:noFill/>
          <a:ln>
            <a:noFill/>
          </a:ln>
        </p:spPr>
      </p:pic>
      <p:sp>
        <p:nvSpPr>
          <p:cNvPr id="204" name="Google Shape;204;p25"/>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USB）</a:t>
            </a:r>
            <a:endParaRPr b="1" sz="1800">
              <a:solidFill>
                <a:srgbClr val="434343"/>
              </a:solidFill>
            </a:endParaRPr>
          </a:p>
        </p:txBody>
      </p:sp>
      <p:sp>
        <p:nvSpPr>
          <p:cNvPr id="205" name="Google Shape;205;p25"/>
          <p:cNvSpPr txBox="1"/>
          <p:nvPr/>
        </p:nvSpPr>
        <p:spPr>
          <a:xfrm>
            <a:off x="221675" y="550150"/>
            <a:ext cx="5279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u="sng">
                <a:solidFill>
                  <a:schemeClr val="dk2"/>
                </a:solidFill>
                <a:highlight>
                  <a:schemeClr val="lt1"/>
                </a:highlight>
              </a:rPr>
              <a:t>Ljung-Box Test</a:t>
            </a:r>
            <a:endParaRPr sz="1800" u="sng">
              <a:solidFill>
                <a:schemeClr val="dk2"/>
              </a:solidFill>
              <a:highlight>
                <a:schemeClr val="lt1"/>
              </a:highlight>
            </a:endParaRPr>
          </a:p>
        </p:txBody>
      </p:sp>
      <p:pic>
        <p:nvPicPr>
          <p:cNvPr id="206" name="Google Shape;206;p25"/>
          <p:cNvPicPr preferRelativeResize="0"/>
          <p:nvPr/>
        </p:nvPicPr>
        <p:blipFill>
          <a:blip r:embed="rId5">
            <a:alphaModFix/>
          </a:blip>
          <a:stretch>
            <a:fillRect/>
          </a:stretch>
        </p:blipFill>
        <p:spPr>
          <a:xfrm>
            <a:off x="294475" y="1364175"/>
            <a:ext cx="1243050" cy="2970524"/>
          </a:xfrm>
          <a:prstGeom prst="rect">
            <a:avLst/>
          </a:prstGeom>
          <a:noFill/>
          <a:ln>
            <a:noFill/>
          </a:ln>
        </p:spPr>
      </p:pic>
      <p:pic>
        <p:nvPicPr>
          <p:cNvPr id="207" name="Google Shape;207;p25"/>
          <p:cNvPicPr preferRelativeResize="0"/>
          <p:nvPr/>
        </p:nvPicPr>
        <p:blipFill>
          <a:blip r:embed="rId6">
            <a:alphaModFix/>
          </a:blip>
          <a:stretch>
            <a:fillRect/>
          </a:stretch>
        </p:blipFill>
        <p:spPr>
          <a:xfrm>
            <a:off x="1636825" y="1364175"/>
            <a:ext cx="2404650" cy="2970524"/>
          </a:xfrm>
          <a:prstGeom prst="rect">
            <a:avLst/>
          </a:prstGeom>
          <a:noFill/>
          <a:ln>
            <a:noFill/>
          </a:ln>
        </p:spPr>
      </p:pic>
      <p:pic>
        <p:nvPicPr>
          <p:cNvPr id="208" name="Google Shape;208;p25"/>
          <p:cNvPicPr preferRelativeResize="0"/>
          <p:nvPr/>
        </p:nvPicPr>
        <p:blipFill>
          <a:blip r:embed="rId7">
            <a:alphaModFix/>
          </a:blip>
          <a:stretch>
            <a:fillRect/>
          </a:stretch>
        </p:blipFill>
        <p:spPr>
          <a:xfrm>
            <a:off x="3981000" y="1364175"/>
            <a:ext cx="2068550" cy="2970525"/>
          </a:xfrm>
          <a:prstGeom prst="rect">
            <a:avLst/>
          </a:prstGeom>
          <a:noFill/>
          <a:ln>
            <a:noFill/>
          </a:ln>
        </p:spPr>
      </p:pic>
      <p:sp>
        <p:nvSpPr>
          <p:cNvPr id="209" name="Google Shape;209;p25"/>
          <p:cNvSpPr/>
          <p:nvPr/>
        </p:nvSpPr>
        <p:spPr>
          <a:xfrm>
            <a:off x="255363" y="4334638"/>
            <a:ext cx="2964300" cy="173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endParaRPr>
          </a:p>
        </p:txBody>
      </p:sp>
      <p:sp>
        <p:nvSpPr>
          <p:cNvPr id="210" name="Google Shape;210;p25"/>
          <p:cNvSpPr txBox="1"/>
          <p:nvPr/>
        </p:nvSpPr>
        <p:spPr>
          <a:xfrm>
            <a:off x="5829975" y="2126850"/>
            <a:ext cx="3194100" cy="11607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rgbClr val="111A18"/>
                </a:solidFill>
              </a:rPr>
              <a:t> 4. Independence Test of Model Residuals</a:t>
            </a:r>
            <a:endParaRPr sz="1200">
              <a:solidFill>
                <a:srgbClr val="111A18"/>
              </a:solidFill>
            </a:endParaRPr>
          </a:p>
          <a:p>
            <a:pPr indent="-304800" lvl="0" marL="457200" rtl="0" algn="l">
              <a:lnSpc>
                <a:spcPct val="115000"/>
              </a:lnSpc>
              <a:spcBef>
                <a:spcPts val="1200"/>
              </a:spcBef>
              <a:spcAft>
                <a:spcPts val="0"/>
              </a:spcAft>
              <a:buClr>
                <a:srgbClr val="111A18"/>
              </a:buClr>
              <a:buSzPts val="1200"/>
              <a:buChar char="●"/>
            </a:pPr>
            <a:r>
              <a:rPr lang="en-GB" sz="1200">
                <a:solidFill>
                  <a:srgbClr val="111A18"/>
                </a:solidFill>
              </a:rPr>
              <a:t>The test showed that with a lag order of 4, the model passed, meaning the errors were independent enough.</a:t>
            </a:r>
            <a:endParaRPr sz="1200">
              <a:solidFill>
                <a:srgbClr val="111A1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26"/>
          <p:cNvPicPr preferRelativeResize="0"/>
          <p:nvPr/>
        </p:nvPicPr>
        <p:blipFill>
          <a:blip r:embed="rId3">
            <a:alphaModFix/>
          </a:blip>
          <a:stretch>
            <a:fillRect/>
          </a:stretch>
        </p:blipFill>
        <p:spPr>
          <a:xfrm>
            <a:off x="0" y="0"/>
            <a:ext cx="9144000" cy="476250"/>
          </a:xfrm>
          <a:prstGeom prst="rect">
            <a:avLst/>
          </a:prstGeom>
          <a:noFill/>
          <a:ln>
            <a:noFill/>
          </a:ln>
        </p:spPr>
      </p:pic>
      <p:sp>
        <p:nvSpPr>
          <p:cNvPr id="216" name="Google Shape;216;p26"/>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USB）</a:t>
            </a:r>
            <a:endParaRPr b="1" sz="1800">
              <a:solidFill>
                <a:srgbClr val="434343"/>
              </a:solidFill>
            </a:endParaRPr>
          </a:p>
        </p:txBody>
      </p:sp>
      <p:sp>
        <p:nvSpPr>
          <p:cNvPr id="217" name="Google Shape;217;p26"/>
          <p:cNvSpPr txBox="1"/>
          <p:nvPr/>
        </p:nvSpPr>
        <p:spPr>
          <a:xfrm>
            <a:off x="185826" y="524025"/>
            <a:ext cx="2499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Forecast</a:t>
            </a:r>
            <a:endParaRPr sz="1800" u="sng">
              <a:solidFill>
                <a:schemeClr val="dk2"/>
              </a:solidFill>
            </a:endParaRPr>
          </a:p>
        </p:txBody>
      </p:sp>
      <p:sp>
        <p:nvSpPr>
          <p:cNvPr id="218" name="Google Shape;218;p26"/>
          <p:cNvSpPr txBox="1"/>
          <p:nvPr/>
        </p:nvSpPr>
        <p:spPr>
          <a:xfrm>
            <a:off x="1485250" y="573788"/>
            <a:ext cx="6993300" cy="3693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200">
                <a:solidFill>
                  <a:srgbClr val="111A18"/>
                </a:solidFill>
              </a:rPr>
              <a:t> 5. </a:t>
            </a:r>
            <a:r>
              <a:rPr lang="en-GB" sz="1200">
                <a:solidFill>
                  <a:srgbClr val="111A18"/>
                </a:solidFill>
              </a:rPr>
              <a:t>Generating Predictions Based on the Test Set: compared the predicted results with actual values </a:t>
            </a:r>
            <a:endParaRPr sz="1200">
              <a:solidFill>
                <a:srgbClr val="111A18"/>
              </a:solidFill>
            </a:endParaRPr>
          </a:p>
        </p:txBody>
      </p:sp>
      <p:pic>
        <p:nvPicPr>
          <p:cNvPr id="219" name="Google Shape;219;p26"/>
          <p:cNvPicPr preferRelativeResize="0"/>
          <p:nvPr/>
        </p:nvPicPr>
        <p:blipFill>
          <a:blip r:embed="rId4">
            <a:alphaModFix/>
          </a:blip>
          <a:stretch>
            <a:fillRect/>
          </a:stretch>
        </p:blipFill>
        <p:spPr>
          <a:xfrm>
            <a:off x="152400" y="1095488"/>
            <a:ext cx="8492436" cy="38956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27"/>
          <p:cNvPicPr preferRelativeResize="0"/>
          <p:nvPr/>
        </p:nvPicPr>
        <p:blipFill>
          <a:blip r:embed="rId3">
            <a:alphaModFix/>
          </a:blip>
          <a:stretch>
            <a:fillRect/>
          </a:stretch>
        </p:blipFill>
        <p:spPr>
          <a:xfrm>
            <a:off x="0" y="0"/>
            <a:ext cx="9144000" cy="476250"/>
          </a:xfrm>
          <a:prstGeom prst="rect">
            <a:avLst/>
          </a:prstGeom>
          <a:noFill/>
          <a:ln>
            <a:noFill/>
          </a:ln>
        </p:spPr>
      </p:pic>
      <p:sp>
        <p:nvSpPr>
          <p:cNvPr id="225" name="Google Shape;225;p27"/>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USB）</a:t>
            </a:r>
            <a:endParaRPr b="1" sz="1800">
              <a:solidFill>
                <a:srgbClr val="434343"/>
              </a:solidFill>
            </a:endParaRPr>
          </a:p>
        </p:txBody>
      </p:sp>
      <p:sp>
        <p:nvSpPr>
          <p:cNvPr id="226" name="Google Shape;226;p27"/>
          <p:cNvSpPr txBox="1"/>
          <p:nvPr/>
        </p:nvSpPr>
        <p:spPr>
          <a:xfrm>
            <a:off x="247088" y="525650"/>
            <a:ext cx="9333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Error</a:t>
            </a:r>
            <a:endParaRPr sz="1800" u="sng">
              <a:solidFill>
                <a:schemeClr val="dk2"/>
              </a:solidFill>
            </a:endParaRPr>
          </a:p>
        </p:txBody>
      </p:sp>
      <p:sp>
        <p:nvSpPr>
          <p:cNvPr id="227" name="Google Shape;227;p27"/>
          <p:cNvSpPr txBox="1"/>
          <p:nvPr/>
        </p:nvSpPr>
        <p:spPr>
          <a:xfrm>
            <a:off x="5148450" y="1989000"/>
            <a:ext cx="3194100" cy="13731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rgbClr val="111A18"/>
                </a:solidFill>
              </a:rPr>
              <a:t> 6. </a:t>
            </a:r>
            <a:r>
              <a:rPr lang="en-GB" sz="1200">
                <a:solidFill>
                  <a:srgbClr val="111A18"/>
                </a:solidFill>
              </a:rPr>
              <a:t> Error Evaluation</a:t>
            </a:r>
            <a:endParaRPr sz="1200">
              <a:solidFill>
                <a:srgbClr val="111A18"/>
              </a:solidFill>
            </a:endParaRPr>
          </a:p>
          <a:p>
            <a:pPr indent="-304800" lvl="0" marL="457200" rtl="0" algn="l">
              <a:lnSpc>
                <a:spcPct val="115000"/>
              </a:lnSpc>
              <a:spcBef>
                <a:spcPts val="1200"/>
              </a:spcBef>
              <a:spcAft>
                <a:spcPts val="0"/>
              </a:spcAft>
              <a:buClr>
                <a:srgbClr val="111A18"/>
              </a:buClr>
              <a:buSzPts val="1200"/>
              <a:buChar char="●"/>
            </a:pPr>
            <a:r>
              <a:rPr lang="en-GB" sz="1200">
                <a:solidFill>
                  <a:srgbClr val="111A18"/>
                </a:solidFill>
              </a:rPr>
              <a:t>Low RMSE and MAPE values mean the model’s predictions were close to the actual LDR values in the test data.</a:t>
            </a:r>
            <a:endParaRPr sz="1200">
              <a:solidFill>
                <a:srgbClr val="111A18"/>
              </a:solidFill>
            </a:endParaRPr>
          </a:p>
        </p:txBody>
      </p:sp>
      <p:pic>
        <p:nvPicPr>
          <p:cNvPr id="228" name="Google Shape;228;p27"/>
          <p:cNvPicPr preferRelativeResize="0"/>
          <p:nvPr/>
        </p:nvPicPr>
        <p:blipFill>
          <a:blip r:embed="rId4">
            <a:alphaModFix/>
          </a:blip>
          <a:stretch>
            <a:fillRect/>
          </a:stretch>
        </p:blipFill>
        <p:spPr>
          <a:xfrm>
            <a:off x="465025" y="1231975"/>
            <a:ext cx="3724351" cy="3202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28"/>
          <p:cNvPicPr preferRelativeResize="0"/>
          <p:nvPr/>
        </p:nvPicPr>
        <p:blipFill>
          <a:blip r:embed="rId3">
            <a:alphaModFix/>
          </a:blip>
          <a:stretch>
            <a:fillRect/>
          </a:stretch>
        </p:blipFill>
        <p:spPr>
          <a:xfrm>
            <a:off x="0" y="0"/>
            <a:ext cx="9144000" cy="476250"/>
          </a:xfrm>
          <a:prstGeom prst="rect">
            <a:avLst/>
          </a:prstGeom>
          <a:noFill/>
          <a:ln>
            <a:noFill/>
          </a:ln>
        </p:spPr>
      </p:pic>
      <p:sp>
        <p:nvSpPr>
          <p:cNvPr id="234" name="Google Shape;234;p28"/>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a:t>
            </a:r>
            <a:r>
              <a:rPr b="1" lang="en-GB" sz="1800">
                <a:solidFill>
                  <a:srgbClr val="434343"/>
                </a:solidFill>
              </a:rPr>
              <a:t>FIFTH THIRD</a:t>
            </a:r>
            <a:r>
              <a:rPr b="1" lang="en-GB" sz="1800">
                <a:solidFill>
                  <a:srgbClr val="434343"/>
                </a:solidFill>
              </a:rPr>
              <a:t>）</a:t>
            </a:r>
            <a:endParaRPr b="1" sz="1800">
              <a:solidFill>
                <a:srgbClr val="434343"/>
              </a:solidFill>
            </a:endParaRPr>
          </a:p>
        </p:txBody>
      </p:sp>
      <p:sp>
        <p:nvSpPr>
          <p:cNvPr id="235" name="Google Shape;235;p28"/>
          <p:cNvSpPr txBox="1"/>
          <p:nvPr/>
        </p:nvSpPr>
        <p:spPr>
          <a:xfrm>
            <a:off x="623875" y="647100"/>
            <a:ext cx="43380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u="sng">
                <a:solidFill>
                  <a:schemeClr val="dk2"/>
                </a:solidFill>
              </a:rPr>
              <a:t>ADF test &amp; use BIC for initial order</a:t>
            </a:r>
            <a:endParaRPr sz="1600" u="sng">
              <a:solidFill>
                <a:schemeClr val="dk2"/>
              </a:solidFill>
            </a:endParaRPr>
          </a:p>
        </p:txBody>
      </p:sp>
      <p:pic>
        <p:nvPicPr>
          <p:cNvPr id="236" name="Google Shape;236;p28"/>
          <p:cNvPicPr preferRelativeResize="0"/>
          <p:nvPr/>
        </p:nvPicPr>
        <p:blipFill>
          <a:blip r:embed="rId4">
            <a:alphaModFix/>
          </a:blip>
          <a:stretch>
            <a:fillRect/>
          </a:stretch>
        </p:blipFill>
        <p:spPr>
          <a:xfrm>
            <a:off x="5360084" y="1097424"/>
            <a:ext cx="1162050" cy="933450"/>
          </a:xfrm>
          <a:prstGeom prst="rect">
            <a:avLst/>
          </a:prstGeom>
          <a:noFill/>
          <a:ln>
            <a:noFill/>
          </a:ln>
        </p:spPr>
      </p:pic>
      <p:sp>
        <p:nvSpPr>
          <p:cNvPr id="237" name="Google Shape;237;p28"/>
          <p:cNvSpPr txBox="1"/>
          <p:nvPr/>
        </p:nvSpPr>
        <p:spPr>
          <a:xfrm>
            <a:off x="5724975" y="1959500"/>
            <a:ext cx="3054600" cy="12189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rPr lang="en-GB" sz="1200">
                <a:solidFill>
                  <a:srgbClr val="111A18"/>
                </a:solidFill>
              </a:rPr>
              <a:t>The ADF test shows that all variables become stationary after the first differencing, and the optimal lag order is selected as 4 based on BIC.</a:t>
            </a:r>
            <a:endParaRPr sz="1200">
              <a:solidFill>
                <a:srgbClr val="111A18"/>
              </a:solidFill>
            </a:endParaRPr>
          </a:p>
        </p:txBody>
      </p:sp>
      <p:pic>
        <p:nvPicPr>
          <p:cNvPr id="238" name="Google Shape;238;p28"/>
          <p:cNvPicPr preferRelativeResize="0"/>
          <p:nvPr/>
        </p:nvPicPr>
        <p:blipFill>
          <a:blip r:embed="rId5">
            <a:alphaModFix/>
          </a:blip>
          <a:stretch>
            <a:fillRect/>
          </a:stretch>
        </p:blipFill>
        <p:spPr>
          <a:xfrm>
            <a:off x="496574" y="1150200"/>
            <a:ext cx="4753225" cy="3557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29"/>
          <p:cNvPicPr preferRelativeResize="0"/>
          <p:nvPr/>
        </p:nvPicPr>
        <p:blipFill>
          <a:blip r:embed="rId3">
            <a:alphaModFix/>
          </a:blip>
          <a:stretch>
            <a:fillRect/>
          </a:stretch>
        </p:blipFill>
        <p:spPr>
          <a:xfrm>
            <a:off x="0" y="0"/>
            <a:ext cx="9144000" cy="476250"/>
          </a:xfrm>
          <a:prstGeom prst="rect">
            <a:avLst/>
          </a:prstGeom>
          <a:noFill/>
          <a:ln>
            <a:noFill/>
          </a:ln>
        </p:spPr>
      </p:pic>
      <p:sp>
        <p:nvSpPr>
          <p:cNvPr id="244" name="Google Shape;244;p29"/>
          <p:cNvSpPr txBox="1"/>
          <p:nvPr/>
        </p:nvSpPr>
        <p:spPr>
          <a:xfrm>
            <a:off x="705975" y="654575"/>
            <a:ext cx="9333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u="sng">
                <a:solidFill>
                  <a:schemeClr val="dk2"/>
                </a:solidFill>
              </a:rPr>
              <a:t>VAR</a:t>
            </a:r>
            <a:endParaRPr sz="1600" u="sng">
              <a:solidFill>
                <a:schemeClr val="dk2"/>
              </a:solidFill>
            </a:endParaRPr>
          </a:p>
        </p:txBody>
      </p:sp>
      <p:sp>
        <p:nvSpPr>
          <p:cNvPr id="245" name="Google Shape;245;p29"/>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FIFTH THIRD）</a:t>
            </a:r>
            <a:endParaRPr b="1" sz="1800">
              <a:solidFill>
                <a:srgbClr val="434343"/>
              </a:solidFill>
            </a:endParaRPr>
          </a:p>
        </p:txBody>
      </p:sp>
      <p:pic>
        <p:nvPicPr>
          <p:cNvPr id="246" name="Google Shape;246;p29"/>
          <p:cNvPicPr preferRelativeResize="0"/>
          <p:nvPr/>
        </p:nvPicPr>
        <p:blipFill rotWithShape="1">
          <a:blip r:embed="rId4">
            <a:alphaModFix/>
          </a:blip>
          <a:srcRect b="0" l="0" r="0" t="724"/>
          <a:stretch/>
        </p:blipFill>
        <p:spPr>
          <a:xfrm>
            <a:off x="654000" y="1165300"/>
            <a:ext cx="3510426" cy="3517824"/>
          </a:xfrm>
          <a:prstGeom prst="rect">
            <a:avLst/>
          </a:prstGeom>
          <a:noFill/>
          <a:ln>
            <a:noFill/>
          </a:ln>
        </p:spPr>
      </p:pic>
      <p:sp>
        <p:nvSpPr>
          <p:cNvPr id="247" name="Google Shape;247;p29"/>
          <p:cNvSpPr txBox="1"/>
          <p:nvPr/>
        </p:nvSpPr>
        <p:spPr>
          <a:xfrm>
            <a:off x="5438275" y="1745025"/>
            <a:ext cx="3054600" cy="10065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rPr lang="en-GB" sz="1200">
                <a:solidFill>
                  <a:srgbClr val="111A18"/>
                </a:solidFill>
              </a:rPr>
              <a:t>The VAR results indicate that some variables, like "Provision for Loan Losses (millions)" at lag 1, have a significant impact on UN RATE.</a:t>
            </a:r>
            <a:endParaRPr sz="1200">
              <a:solidFill>
                <a:srgbClr val="111A1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30"/>
          <p:cNvPicPr preferRelativeResize="0"/>
          <p:nvPr/>
        </p:nvPicPr>
        <p:blipFill>
          <a:blip r:embed="rId3">
            <a:alphaModFix/>
          </a:blip>
          <a:stretch>
            <a:fillRect/>
          </a:stretch>
        </p:blipFill>
        <p:spPr>
          <a:xfrm>
            <a:off x="0" y="0"/>
            <a:ext cx="9144000" cy="476250"/>
          </a:xfrm>
          <a:prstGeom prst="rect">
            <a:avLst/>
          </a:prstGeom>
          <a:noFill/>
          <a:ln>
            <a:noFill/>
          </a:ln>
        </p:spPr>
      </p:pic>
      <p:sp>
        <p:nvSpPr>
          <p:cNvPr id="253" name="Google Shape;253;p30"/>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FIFTH THIRD）</a:t>
            </a:r>
            <a:endParaRPr b="1" sz="1800">
              <a:solidFill>
                <a:srgbClr val="434343"/>
              </a:solidFill>
            </a:endParaRPr>
          </a:p>
        </p:txBody>
      </p:sp>
      <p:sp>
        <p:nvSpPr>
          <p:cNvPr id="254" name="Google Shape;254;p30"/>
          <p:cNvSpPr txBox="1"/>
          <p:nvPr/>
        </p:nvSpPr>
        <p:spPr>
          <a:xfrm>
            <a:off x="421238" y="686825"/>
            <a:ext cx="23832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u="sng">
                <a:solidFill>
                  <a:schemeClr val="dk2"/>
                </a:solidFill>
                <a:highlight>
                  <a:schemeClr val="lt1"/>
                </a:highlight>
              </a:rPr>
              <a:t>Ljung-Box Test</a:t>
            </a:r>
            <a:endParaRPr sz="1600" u="sng">
              <a:solidFill>
                <a:schemeClr val="dk2"/>
              </a:solidFill>
              <a:highlight>
                <a:schemeClr val="lt1"/>
              </a:highlight>
            </a:endParaRPr>
          </a:p>
        </p:txBody>
      </p:sp>
      <p:pic>
        <p:nvPicPr>
          <p:cNvPr id="255" name="Google Shape;255;p30"/>
          <p:cNvPicPr preferRelativeResize="0"/>
          <p:nvPr/>
        </p:nvPicPr>
        <p:blipFill>
          <a:blip r:embed="rId4">
            <a:alphaModFix/>
          </a:blip>
          <a:stretch>
            <a:fillRect/>
          </a:stretch>
        </p:blipFill>
        <p:spPr>
          <a:xfrm>
            <a:off x="108100" y="1291687"/>
            <a:ext cx="6537250" cy="2560125"/>
          </a:xfrm>
          <a:prstGeom prst="rect">
            <a:avLst/>
          </a:prstGeom>
          <a:noFill/>
          <a:ln>
            <a:noFill/>
          </a:ln>
        </p:spPr>
      </p:pic>
      <p:sp>
        <p:nvSpPr>
          <p:cNvPr id="256" name="Google Shape;256;p30"/>
          <p:cNvSpPr txBox="1"/>
          <p:nvPr/>
        </p:nvSpPr>
        <p:spPr>
          <a:xfrm>
            <a:off x="6645350" y="1540875"/>
            <a:ext cx="1905000" cy="7941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200">
                <a:solidFill>
                  <a:srgbClr val="111A18"/>
                </a:solidFill>
              </a:rPr>
              <a:t>The Ljung-Box test for FIFTH THIRD shows a good model fit.</a:t>
            </a:r>
            <a:endParaRPr sz="1200">
              <a:solidFill>
                <a:srgbClr val="111A1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pic>
        <p:nvPicPr>
          <p:cNvPr id="261" name="Google Shape;261;p31"/>
          <p:cNvPicPr preferRelativeResize="0"/>
          <p:nvPr/>
        </p:nvPicPr>
        <p:blipFill>
          <a:blip r:embed="rId3">
            <a:alphaModFix/>
          </a:blip>
          <a:stretch>
            <a:fillRect/>
          </a:stretch>
        </p:blipFill>
        <p:spPr>
          <a:xfrm>
            <a:off x="0" y="0"/>
            <a:ext cx="9144000" cy="476250"/>
          </a:xfrm>
          <a:prstGeom prst="rect">
            <a:avLst/>
          </a:prstGeom>
          <a:noFill/>
          <a:ln>
            <a:noFill/>
          </a:ln>
        </p:spPr>
      </p:pic>
      <p:sp>
        <p:nvSpPr>
          <p:cNvPr id="262" name="Google Shape;262;p31"/>
          <p:cNvSpPr txBox="1"/>
          <p:nvPr/>
        </p:nvSpPr>
        <p:spPr>
          <a:xfrm>
            <a:off x="498750" y="638450"/>
            <a:ext cx="18714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u="sng">
                <a:solidFill>
                  <a:schemeClr val="dk2"/>
                </a:solidFill>
              </a:rPr>
              <a:t>Forecast</a:t>
            </a:r>
            <a:endParaRPr sz="1600" u="sng">
              <a:solidFill>
                <a:schemeClr val="dk2"/>
              </a:solidFill>
            </a:endParaRPr>
          </a:p>
        </p:txBody>
      </p:sp>
      <p:sp>
        <p:nvSpPr>
          <p:cNvPr id="263" name="Google Shape;263;p31"/>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FIFTH THIRD）</a:t>
            </a:r>
            <a:endParaRPr b="1" sz="1800">
              <a:solidFill>
                <a:srgbClr val="434343"/>
              </a:solidFill>
            </a:endParaRPr>
          </a:p>
        </p:txBody>
      </p:sp>
      <p:sp>
        <p:nvSpPr>
          <p:cNvPr id="264" name="Google Shape;264;p31"/>
          <p:cNvSpPr txBox="1"/>
          <p:nvPr/>
        </p:nvSpPr>
        <p:spPr>
          <a:xfrm>
            <a:off x="1557750" y="879975"/>
            <a:ext cx="7226400" cy="5817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200">
                <a:solidFill>
                  <a:srgbClr val="111A18"/>
                </a:solidFill>
              </a:rPr>
              <a:t>The forecast results for FIFTH THIRD show a promising trend alignment for some variables, though certain deviations suggest that refining the model could further enhance its predictive accuracy.</a:t>
            </a:r>
            <a:endParaRPr sz="1200">
              <a:solidFill>
                <a:srgbClr val="111A18"/>
              </a:solidFill>
            </a:endParaRPr>
          </a:p>
        </p:txBody>
      </p:sp>
      <p:pic>
        <p:nvPicPr>
          <p:cNvPr id="265" name="Google Shape;265;p31"/>
          <p:cNvPicPr preferRelativeResize="0"/>
          <p:nvPr/>
        </p:nvPicPr>
        <p:blipFill>
          <a:blip r:embed="rId4">
            <a:alphaModFix/>
          </a:blip>
          <a:stretch>
            <a:fillRect/>
          </a:stretch>
        </p:blipFill>
        <p:spPr>
          <a:xfrm>
            <a:off x="968825" y="1584925"/>
            <a:ext cx="7297548" cy="33770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32"/>
          <p:cNvPicPr preferRelativeResize="0"/>
          <p:nvPr/>
        </p:nvPicPr>
        <p:blipFill>
          <a:blip r:embed="rId3">
            <a:alphaModFix/>
          </a:blip>
          <a:stretch>
            <a:fillRect/>
          </a:stretch>
        </p:blipFill>
        <p:spPr>
          <a:xfrm>
            <a:off x="0" y="0"/>
            <a:ext cx="9144000" cy="476250"/>
          </a:xfrm>
          <a:prstGeom prst="rect">
            <a:avLst/>
          </a:prstGeom>
          <a:noFill/>
          <a:ln>
            <a:noFill/>
          </a:ln>
        </p:spPr>
      </p:pic>
      <p:sp>
        <p:nvSpPr>
          <p:cNvPr id="271" name="Google Shape;271;p32"/>
          <p:cNvSpPr txBox="1"/>
          <p:nvPr/>
        </p:nvSpPr>
        <p:spPr>
          <a:xfrm>
            <a:off x="542100" y="620375"/>
            <a:ext cx="9333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u="sng">
                <a:solidFill>
                  <a:schemeClr val="dk2"/>
                </a:solidFill>
              </a:rPr>
              <a:t>Error</a:t>
            </a:r>
            <a:endParaRPr sz="1600" u="sng">
              <a:solidFill>
                <a:schemeClr val="dk2"/>
              </a:solidFill>
            </a:endParaRPr>
          </a:p>
        </p:txBody>
      </p:sp>
      <p:sp>
        <p:nvSpPr>
          <p:cNvPr id="272" name="Google Shape;272;p32"/>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FIFTH THIRD）</a:t>
            </a:r>
            <a:endParaRPr b="1" sz="1800">
              <a:solidFill>
                <a:srgbClr val="434343"/>
              </a:solidFill>
            </a:endParaRPr>
          </a:p>
        </p:txBody>
      </p:sp>
      <p:pic>
        <p:nvPicPr>
          <p:cNvPr id="273" name="Google Shape;273;p32"/>
          <p:cNvPicPr preferRelativeResize="0"/>
          <p:nvPr/>
        </p:nvPicPr>
        <p:blipFill>
          <a:blip r:embed="rId4">
            <a:alphaModFix/>
          </a:blip>
          <a:stretch>
            <a:fillRect/>
          </a:stretch>
        </p:blipFill>
        <p:spPr>
          <a:xfrm>
            <a:off x="542100" y="1280500"/>
            <a:ext cx="3898924" cy="3267575"/>
          </a:xfrm>
          <a:prstGeom prst="rect">
            <a:avLst/>
          </a:prstGeom>
          <a:noFill/>
          <a:ln>
            <a:noFill/>
          </a:ln>
        </p:spPr>
      </p:pic>
      <p:sp>
        <p:nvSpPr>
          <p:cNvPr id="274" name="Google Shape;274;p32"/>
          <p:cNvSpPr txBox="1"/>
          <p:nvPr/>
        </p:nvSpPr>
        <p:spPr>
          <a:xfrm>
            <a:off x="5680675" y="1328200"/>
            <a:ext cx="3054600" cy="10065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rPr lang="en-GB" sz="1200">
                <a:solidFill>
                  <a:srgbClr val="111A18"/>
                </a:solidFill>
              </a:rPr>
              <a:t>The error analysis for FIFTH THIRD shows moderate RMSE and MAPE values, indicating reasonable predictive performance</a:t>
            </a:r>
            <a:endParaRPr sz="1200">
              <a:solidFill>
                <a:srgbClr val="111A1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id="279" name="Google Shape;279;p33"/>
          <p:cNvPicPr preferRelativeResize="0"/>
          <p:nvPr/>
        </p:nvPicPr>
        <p:blipFill>
          <a:blip r:embed="rId3">
            <a:alphaModFix/>
          </a:blip>
          <a:stretch>
            <a:fillRect/>
          </a:stretch>
        </p:blipFill>
        <p:spPr>
          <a:xfrm>
            <a:off x="0" y="0"/>
            <a:ext cx="9144000" cy="476250"/>
          </a:xfrm>
          <a:prstGeom prst="rect">
            <a:avLst/>
          </a:prstGeom>
          <a:noFill/>
          <a:ln>
            <a:noFill/>
          </a:ln>
        </p:spPr>
      </p:pic>
      <p:sp>
        <p:nvSpPr>
          <p:cNvPr id="280" name="Google Shape;280;p33"/>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FRCB）</a:t>
            </a:r>
            <a:endParaRPr b="1" sz="1800">
              <a:solidFill>
                <a:srgbClr val="434343"/>
              </a:solidFill>
            </a:endParaRPr>
          </a:p>
        </p:txBody>
      </p:sp>
      <p:sp>
        <p:nvSpPr>
          <p:cNvPr id="281" name="Google Shape;281;p33"/>
          <p:cNvSpPr txBox="1"/>
          <p:nvPr/>
        </p:nvSpPr>
        <p:spPr>
          <a:xfrm>
            <a:off x="81038" y="2848125"/>
            <a:ext cx="9333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u="sng">
              <a:solidFill>
                <a:schemeClr val="dk2"/>
              </a:solidFill>
            </a:endParaRPr>
          </a:p>
        </p:txBody>
      </p:sp>
      <p:sp>
        <p:nvSpPr>
          <p:cNvPr id="282" name="Google Shape;282;p33"/>
          <p:cNvSpPr txBox="1"/>
          <p:nvPr/>
        </p:nvSpPr>
        <p:spPr>
          <a:xfrm>
            <a:off x="81050" y="476400"/>
            <a:ext cx="4402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800" u="sng">
                <a:solidFill>
                  <a:schemeClr val="dk2"/>
                </a:solidFill>
              </a:rPr>
              <a:t>ADF test &amp; use BIC for initial order</a:t>
            </a:r>
            <a:endParaRPr sz="1800" u="sng">
              <a:solidFill>
                <a:schemeClr val="dk2"/>
              </a:solidFill>
            </a:endParaRPr>
          </a:p>
          <a:p>
            <a:pPr indent="0" lvl="0" marL="0" rtl="0" algn="l">
              <a:spcBef>
                <a:spcPts val="0"/>
              </a:spcBef>
              <a:spcAft>
                <a:spcPts val="0"/>
              </a:spcAft>
              <a:buNone/>
            </a:pPr>
            <a:r>
              <a:t/>
            </a:r>
            <a:endParaRPr sz="1100" u="sng">
              <a:solidFill>
                <a:schemeClr val="dk2"/>
              </a:solidFill>
            </a:endParaRPr>
          </a:p>
        </p:txBody>
      </p:sp>
      <p:pic>
        <p:nvPicPr>
          <p:cNvPr id="283" name="Google Shape;283;p33"/>
          <p:cNvPicPr preferRelativeResize="0"/>
          <p:nvPr/>
        </p:nvPicPr>
        <p:blipFill>
          <a:blip r:embed="rId4">
            <a:alphaModFix/>
          </a:blip>
          <a:stretch>
            <a:fillRect/>
          </a:stretch>
        </p:blipFill>
        <p:spPr>
          <a:xfrm>
            <a:off x="545538" y="999375"/>
            <a:ext cx="5407563" cy="4029900"/>
          </a:xfrm>
          <a:prstGeom prst="rect">
            <a:avLst/>
          </a:prstGeom>
          <a:noFill/>
          <a:ln>
            <a:noFill/>
          </a:ln>
        </p:spPr>
      </p:pic>
      <p:sp>
        <p:nvSpPr>
          <p:cNvPr id="284" name="Google Shape;284;p33"/>
          <p:cNvSpPr txBox="1"/>
          <p:nvPr/>
        </p:nvSpPr>
        <p:spPr>
          <a:xfrm>
            <a:off x="6336775" y="1940750"/>
            <a:ext cx="2412300" cy="15699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spcBef>
                <a:spcPts val="0"/>
              </a:spcBef>
              <a:spcAft>
                <a:spcPts val="0"/>
              </a:spcAft>
              <a:buNone/>
            </a:pPr>
            <a:r>
              <a:rPr lang="en-GB" sz="1500">
                <a:solidFill>
                  <a:schemeClr val="dk1"/>
                </a:solidFill>
              </a:rPr>
              <a:t>The ADF test results show that some variables become stationary after differencing, providing a data foundation for the VAR model.</a:t>
            </a:r>
            <a:endParaRPr sz="1200">
              <a:solidFill>
                <a:srgbClr val="111A1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34"/>
          <p:cNvPicPr preferRelativeResize="0"/>
          <p:nvPr/>
        </p:nvPicPr>
        <p:blipFill>
          <a:blip r:embed="rId3">
            <a:alphaModFix/>
          </a:blip>
          <a:stretch>
            <a:fillRect/>
          </a:stretch>
        </p:blipFill>
        <p:spPr>
          <a:xfrm>
            <a:off x="0" y="0"/>
            <a:ext cx="9144000" cy="476250"/>
          </a:xfrm>
          <a:prstGeom prst="rect">
            <a:avLst/>
          </a:prstGeom>
          <a:noFill/>
          <a:ln>
            <a:noFill/>
          </a:ln>
        </p:spPr>
      </p:pic>
      <p:sp>
        <p:nvSpPr>
          <p:cNvPr id="290" name="Google Shape;290;p34"/>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FRCB）</a:t>
            </a:r>
            <a:endParaRPr b="1" sz="1800">
              <a:solidFill>
                <a:srgbClr val="434343"/>
              </a:solidFill>
            </a:endParaRPr>
          </a:p>
        </p:txBody>
      </p:sp>
      <p:sp>
        <p:nvSpPr>
          <p:cNvPr id="291" name="Google Shape;291;p34"/>
          <p:cNvSpPr txBox="1"/>
          <p:nvPr/>
        </p:nvSpPr>
        <p:spPr>
          <a:xfrm>
            <a:off x="221565" y="476400"/>
            <a:ext cx="20448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VAR model</a:t>
            </a:r>
            <a:endParaRPr sz="1800" u="sng">
              <a:solidFill>
                <a:schemeClr val="dk2"/>
              </a:solidFill>
            </a:endParaRPr>
          </a:p>
        </p:txBody>
      </p:sp>
      <p:sp>
        <p:nvSpPr>
          <p:cNvPr id="292" name="Google Shape;292;p34"/>
          <p:cNvSpPr txBox="1"/>
          <p:nvPr/>
        </p:nvSpPr>
        <p:spPr>
          <a:xfrm>
            <a:off x="6659300" y="2471575"/>
            <a:ext cx="2504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293" name="Google Shape;293;p34"/>
          <p:cNvSpPr txBox="1"/>
          <p:nvPr/>
        </p:nvSpPr>
        <p:spPr>
          <a:xfrm>
            <a:off x="6488050" y="2258725"/>
            <a:ext cx="2314200" cy="14316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200">
                <a:solidFill>
                  <a:srgbClr val="111A18"/>
                </a:solidFill>
              </a:rPr>
              <a:t> Highlight</a:t>
            </a:r>
            <a:r>
              <a:rPr lang="en-GB" sz="1200">
                <a:solidFill>
                  <a:srgbClr val="111A18"/>
                </a:solidFill>
              </a:rPr>
              <a:t>ing</a:t>
            </a:r>
            <a:r>
              <a:rPr lang="en-GB" sz="1200">
                <a:solidFill>
                  <a:srgbClr val="111A18"/>
                </a:solidFill>
              </a:rPr>
              <a:t> significant coefficients and statistical relationships, suggesting heightened volatility and liquidity issues compared to other normal banks.</a:t>
            </a:r>
            <a:endParaRPr sz="1200">
              <a:solidFill>
                <a:srgbClr val="111A18"/>
              </a:solidFill>
            </a:endParaRPr>
          </a:p>
        </p:txBody>
      </p:sp>
      <p:pic>
        <p:nvPicPr>
          <p:cNvPr id="294" name="Google Shape;294;p34"/>
          <p:cNvPicPr preferRelativeResize="0"/>
          <p:nvPr/>
        </p:nvPicPr>
        <p:blipFill>
          <a:blip r:embed="rId4">
            <a:alphaModFix/>
          </a:blip>
          <a:stretch>
            <a:fillRect/>
          </a:stretch>
        </p:blipFill>
        <p:spPr>
          <a:xfrm>
            <a:off x="290450" y="888375"/>
            <a:ext cx="5925686" cy="4172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35"/>
          <p:cNvPicPr preferRelativeResize="0"/>
          <p:nvPr/>
        </p:nvPicPr>
        <p:blipFill>
          <a:blip r:embed="rId3">
            <a:alphaModFix/>
          </a:blip>
          <a:stretch>
            <a:fillRect/>
          </a:stretch>
        </p:blipFill>
        <p:spPr>
          <a:xfrm>
            <a:off x="0" y="0"/>
            <a:ext cx="9144000" cy="476250"/>
          </a:xfrm>
          <a:prstGeom prst="rect">
            <a:avLst/>
          </a:prstGeom>
          <a:noFill/>
          <a:ln>
            <a:noFill/>
          </a:ln>
        </p:spPr>
      </p:pic>
      <p:sp>
        <p:nvSpPr>
          <p:cNvPr id="300" name="Google Shape;300;p35"/>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FRCB）</a:t>
            </a:r>
            <a:endParaRPr b="1" sz="1800">
              <a:solidFill>
                <a:srgbClr val="434343"/>
              </a:solidFill>
            </a:endParaRPr>
          </a:p>
        </p:txBody>
      </p:sp>
      <p:sp>
        <p:nvSpPr>
          <p:cNvPr id="301" name="Google Shape;301;p35"/>
          <p:cNvSpPr txBox="1"/>
          <p:nvPr/>
        </p:nvSpPr>
        <p:spPr>
          <a:xfrm>
            <a:off x="446285" y="543625"/>
            <a:ext cx="4717500" cy="7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700" u="sng">
                <a:solidFill>
                  <a:schemeClr val="dk2"/>
                </a:solidFill>
                <a:highlight>
                  <a:schemeClr val="lt1"/>
                </a:highlight>
              </a:rPr>
              <a:t>Ljung-Box Test</a:t>
            </a:r>
            <a:endParaRPr sz="1700" u="sng">
              <a:solidFill>
                <a:schemeClr val="dk2"/>
              </a:solidFill>
              <a:highlight>
                <a:schemeClr val="lt1"/>
              </a:highlight>
            </a:endParaRPr>
          </a:p>
        </p:txBody>
      </p:sp>
      <p:pic>
        <p:nvPicPr>
          <p:cNvPr id="302" name="Google Shape;302;p35"/>
          <p:cNvPicPr preferRelativeResize="0"/>
          <p:nvPr/>
        </p:nvPicPr>
        <p:blipFill>
          <a:blip r:embed="rId4">
            <a:alphaModFix/>
          </a:blip>
          <a:stretch>
            <a:fillRect/>
          </a:stretch>
        </p:blipFill>
        <p:spPr>
          <a:xfrm>
            <a:off x="221425" y="1070300"/>
            <a:ext cx="1880875" cy="3278075"/>
          </a:xfrm>
          <a:prstGeom prst="rect">
            <a:avLst/>
          </a:prstGeom>
          <a:noFill/>
          <a:ln>
            <a:noFill/>
          </a:ln>
        </p:spPr>
      </p:pic>
      <p:pic>
        <p:nvPicPr>
          <p:cNvPr id="303" name="Google Shape;303;p35"/>
          <p:cNvPicPr preferRelativeResize="0"/>
          <p:nvPr/>
        </p:nvPicPr>
        <p:blipFill>
          <a:blip r:embed="rId5">
            <a:alphaModFix/>
          </a:blip>
          <a:stretch>
            <a:fillRect/>
          </a:stretch>
        </p:blipFill>
        <p:spPr>
          <a:xfrm>
            <a:off x="2409600" y="1089850"/>
            <a:ext cx="2849338" cy="3112330"/>
          </a:xfrm>
          <a:prstGeom prst="rect">
            <a:avLst/>
          </a:prstGeom>
          <a:noFill/>
          <a:ln>
            <a:noFill/>
          </a:ln>
        </p:spPr>
      </p:pic>
      <p:pic>
        <p:nvPicPr>
          <p:cNvPr id="304" name="Google Shape;304;p35"/>
          <p:cNvPicPr preferRelativeResize="0"/>
          <p:nvPr/>
        </p:nvPicPr>
        <p:blipFill>
          <a:blip r:embed="rId6">
            <a:alphaModFix/>
          </a:blip>
          <a:stretch>
            <a:fillRect/>
          </a:stretch>
        </p:blipFill>
        <p:spPr>
          <a:xfrm>
            <a:off x="5566252" y="1070300"/>
            <a:ext cx="2941975" cy="3634675"/>
          </a:xfrm>
          <a:prstGeom prst="rect">
            <a:avLst/>
          </a:prstGeom>
          <a:noFill/>
          <a:ln>
            <a:noFill/>
          </a:ln>
        </p:spPr>
      </p:pic>
      <p:sp>
        <p:nvSpPr>
          <p:cNvPr id="305" name="Google Shape;305;p35"/>
          <p:cNvSpPr txBox="1"/>
          <p:nvPr/>
        </p:nvSpPr>
        <p:spPr>
          <a:xfrm>
            <a:off x="2174975" y="588625"/>
            <a:ext cx="5472600" cy="3693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GB" sz="1200">
                <a:solidFill>
                  <a:srgbClr val="111A18"/>
                </a:solidFill>
              </a:rPr>
              <a:t>Ljung-Box tests confirmed residual independence, enhancing model reliability. </a:t>
            </a:r>
            <a:endParaRPr sz="1200">
              <a:solidFill>
                <a:srgbClr val="111A1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36"/>
          <p:cNvPicPr preferRelativeResize="0"/>
          <p:nvPr/>
        </p:nvPicPr>
        <p:blipFill>
          <a:blip r:embed="rId3">
            <a:alphaModFix/>
          </a:blip>
          <a:stretch>
            <a:fillRect/>
          </a:stretch>
        </p:blipFill>
        <p:spPr>
          <a:xfrm>
            <a:off x="0" y="0"/>
            <a:ext cx="9144000" cy="476250"/>
          </a:xfrm>
          <a:prstGeom prst="rect">
            <a:avLst/>
          </a:prstGeom>
          <a:noFill/>
          <a:ln>
            <a:noFill/>
          </a:ln>
        </p:spPr>
      </p:pic>
      <p:sp>
        <p:nvSpPr>
          <p:cNvPr id="311" name="Google Shape;311;p36"/>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FRCB）</a:t>
            </a:r>
            <a:endParaRPr b="1" sz="1800">
              <a:solidFill>
                <a:srgbClr val="434343"/>
              </a:solidFill>
            </a:endParaRPr>
          </a:p>
        </p:txBody>
      </p:sp>
      <p:sp>
        <p:nvSpPr>
          <p:cNvPr id="312" name="Google Shape;312;p36"/>
          <p:cNvSpPr txBox="1"/>
          <p:nvPr/>
        </p:nvSpPr>
        <p:spPr>
          <a:xfrm>
            <a:off x="185826" y="524025"/>
            <a:ext cx="2499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Forecast</a:t>
            </a:r>
            <a:endParaRPr sz="1800" u="sng">
              <a:solidFill>
                <a:schemeClr val="dk2"/>
              </a:solidFill>
            </a:endParaRPr>
          </a:p>
        </p:txBody>
      </p:sp>
      <p:sp>
        <p:nvSpPr>
          <p:cNvPr id="313" name="Google Shape;313;p36"/>
          <p:cNvSpPr txBox="1"/>
          <p:nvPr/>
        </p:nvSpPr>
        <p:spPr>
          <a:xfrm>
            <a:off x="2236300" y="676425"/>
            <a:ext cx="46659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314" name="Google Shape;314;p36"/>
          <p:cNvSpPr txBox="1"/>
          <p:nvPr/>
        </p:nvSpPr>
        <p:spPr>
          <a:xfrm>
            <a:off x="848950" y="4127100"/>
            <a:ext cx="7440600" cy="10920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100">
                <a:solidFill>
                  <a:srgbClr val="111A18"/>
                </a:solidFill>
              </a:rPr>
              <a:t>Forecasts revealed FRCB’s severe liquidity issues, with significant increases in non-performing loans and loan loss reserves from 2022 to 2023, indicating liquidity shortfalls and high credit risk.</a:t>
            </a:r>
            <a:endParaRPr sz="1100">
              <a:solidFill>
                <a:srgbClr val="111A18"/>
              </a:solidFill>
            </a:endParaRPr>
          </a:p>
          <a:p>
            <a:pPr indent="0" lvl="0" marL="0" rtl="0" algn="l">
              <a:lnSpc>
                <a:spcPct val="115000"/>
              </a:lnSpc>
              <a:spcBef>
                <a:spcPts val="1200"/>
              </a:spcBef>
              <a:spcAft>
                <a:spcPts val="1200"/>
              </a:spcAft>
              <a:buNone/>
            </a:pPr>
            <a:r>
              <a:rPr b="1" lang="en-GB" sz="1100">
                <a:solidFill>
                  <a:schemeClr val="dk1"/>
                </a:solidFill>
              </a:rPr>
              <a:t>Changing Market Conditions:</a:t>
            </a:r>
            <a:r>
              <a:rPr lang="en-GB" sz="1100">
                <a:solidFill>
                  <a:schemeClr val="dk1"/>
                </a:solidFill>
              </a:rPr>
              <a:t> The loan-to-deposit ratio could be influenced by economic shifts, customer behavior, or bank-specific policies, which the VAR model did not account for.</a:t>
            </a:r>
            <a:endParaRPr sz="1300">
              <a:solidFill>
                <a:srgbClr val="111A18"/>
              </a:solidFill>
            </a:endParaRPr>
          </a:p>
        </p:txBody>
      </p:sp>
      <p:pic>
        <p:nvPicPr>
          <p:cNvPr id="315" name="Google Shape;315;p36"/>
          <p:cNvPicPr preferRelativeResize="0"/>
          <p:nvPr/>
        </p:nvPicPr>
        <p:blipFill>
          <a:blip r:embed="rId4">
            <a:alphaModFix/>
          </a:blip>
          <a:stretch>
            <a:fillRect/>
          </a:stretch>
        </p:blipFill>
        <p:spPr>
          <a:xfrm>
            <a:off x="663350" y="910750"/>
            <a:ext cx="3802275" cy="1733950"/>
          </a:xfrm>
          <a:prstGeom prst="rect">
            <a:avLst/>
          </a:prstGeom>
          <a:noFill/>
          <a:ln>
            <a:noFill/>
          </a:ln>
        </p:spPr>
      </p:pic>
      <p:pic>
        <p:nvPicPr>
          <p:cNvPr id="316" name="Google Shape;316;p36"/>
          <p:cNvPicPr preferRelativeResize="0"/>
          <p:nvPr/>
        </p:nvPicPr>
        <p:blipFill>
          <a:blip r:embed="rId5">
            <a:alphaModFix/>
          </a:blip>
          <a:stretch>
            <a:fillRect/>
          </a:stretch>
        </p:blipFill>
        <p:spPr>
          <a:xfrm>
            <a:off x="4595425" y="910750"/>
            <a:ext cx="3802275" cy="1671990"/>
          </a:xfrm>
          <a:prstGeom prst="rect">
            <a:avLst/>
          </a:prstGeom>
          <a:noFill/>
          <a:ln>
            <a:noFill/>
          </a:ln>
        </p:spPr>
      </p:pic>
      <p:pic>
        <p:nvPicPr>
          <p:cNvPr id="317" name="Google Shape;317;p36"/>
          <p:cNvPicPr preferRelativeResize="0"/>
          <p:nvPr/>
        </p:nvPicPr>
        <p:blipFill>
          <a:blip r:embed="rId6">
            <a:alphaModFix/>
          </a:blip>
          <a:stretch>
            <a:fillRect/>
          </a:stretch>
        </p:blipFill>
        <p:spPr>
          <a:xfrm>
            <a:off x="807534" y="2571750"/>
            <a:ext cx="3658091" cy="1650925"/>
          </a:xfrm>
          <a:prstGeom prst="rect">
            <a:avLst/>
          </a:prstGeom>
          <a:noFill/>
          <a:ln>
            <a:noFill/>
          </a:ln>
        </p:spPr>
      </p:pic>
      <p:pic>
        <p:nvPicPr>
          <p:cNvPr id="318" name="Google Shape;318;p36"/>
          <p:cNvPicPr preferRelativeResize="0"/>
          <p:nvPr/>
        </p:nvPicPr>
        <p:blipFill>
          <a:blip r:embed="rId7">
            <a:alphaModFix/>
          </a:blip>
          <a:stretch>
            <a:fillRect/>
          </a:stretch>
        </p:blipFill>
        <p:spPr>
          <a:xfrm>
            <a:off x="4526589" y="2455100"/>
            <a:ext cx="3602711" cy="1672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37"/>
          <p:cNvPicPr preferRelativeResize="0"/>
          <p:nvPr/>
        </p:nvPicPr>
        <p:blipFill>
          <a:blip r:embed="rId3">
            <a:alphaModFix/>
          </a:blip>
          <a:stretch>
            <a:fillRect/>
          </a:stretch>
        </p:blipFill>
        <p:spPr>
          <a:xfrm>
            <a:off x="0" y="0"/>
            <a:ext cx="9144000" cy="476250"/>
          </a:xfrm>
          <a:prstGeom prst="rect">
            <a:avLst/>
          </a:prstGeom>
          <a:noFill/>
          <a:ln>
            <a:noFill/>
          </a:ln>
        </p:spPr>
      </p:pic>
      <p:sp>
        <p:nvSpPr>
          <p:cNvPr id="324" name="Google Shape;324;p37"/>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VAR（data of FRCB）</a:t>
            </a:r>
            <a:endParaRPr b="1" sz="1800">
              <a:solidFill>
                <a:srgbClr val="434343"/>
              </a:solidFill>
            </a:endParaRPr>
          </a:p>
        </p:txBody>
      </p:sp>
      <p:sp>
        <p:nvSpPr>
          <p:cNvPr id="325" name="Google Shape;325;p37"/>
          <p:cNvSpPr txBox="1"/>
          <p:nvPr/>
        </p:nvSpPr>
        <p:spPr>
          <a:xfrm>
            <a:off x="247088" y="525650"/>
            <a:ext cx="9333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Error</a:t>
            </a:r>
            <a:endParaRPr sz="1800" u="sng">
              <a:solidFill>
                <a:schemeClr val="dk2"/>
              </a:solidFill>
            </a:endParaRPr>
          </a:p>
        </p:txBody>
      </p:sp>
      <p:sp>
        <p:nvSpPr>
          <p:cNvPr id="326" name="Google Shape;326;p37"/>
          <p:cNvSpPr txBox="1"/>
          <p:nvPr/>
        </p:nvSpPr>
        <p:spPr>
          <a:xfrm>
            <a:off x="5563125" y="1130925"/>
            <a:ext cx="1751100" cy="28038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100">
                <a:solidFill>
                  <a:schemeClr val="dk1"/>
                </a:solidFill>
              </a:rPr>
              <a:t>Total Loans to Total Deposits:</a:t>
            </a:r>
            <a:r>
              <a:rPr lang="en-GB" sz="1100">
                <a:solidFill>
                  <a:schemeClr val="dk1"/>
                </a:solidFill>
              </a:rPr>
              <a:t> </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 </a:t>
            </a:r>
            <a:r>
              <a:rPr lang="en-GB" sz="1100">
                <a:solidFill>
                  <a:schemeClr val="dk1"/>
                </a:solidFill>
              </a:rPr>
              <a:t>An </a:t>
            </a:r>
            <a:r>
              <a:rPr b="1" lang="en-GB" sz="1100">
                <a:solidFill>
                  <a:schemeClr val="dk1"/>
                </a:solidFill>
              </a:rPr>
              <a:t>RMSE of ~7.19%</a:t>
            </a:r>
            <a:r>
              <a:rPr lang="en-GB" sz="1100">
                <a:solidFill>
                  <a:schemeClr val="dk1"/>
                </a:solidFill>
              </a:rPr>
              <a:t> is noteworthy. Given the historical range of this ratio (86.33% to 102.08%).</a:t>
            </a:r>
            <a:endParaRPr sz="1100">
              <a:solidFill>
                <a:schemeClr val="dk1"/>
              </a:solidFill>
            </a:endParaRPr>
          </a:p>
          <a:p>
            <a:pPr indent="0" lvl="0" marL="0" rtl="0" algn="l">
              <a:lnSpc>
                <a:spcPct val="115000"/>
              </a:lnSpc>
              <a:spcBef>
                <a:spcPts val="1200"/>
              </a:spcBef>
              <a:spcAft>
                <a:spcPts val="1200"/>
              </a:spcAft>
              <a:buNone/>
            </a:pPr>
            <a:r>
              <a:rPr lang="en-GB" sz="1100">
                <a:solidFill>
                  <a:schemeClr val="dk1"/>
                </a:solidFill>
              </a:rPr>
              <a:t>A </a:t>
            </a:r>
            <a:r>
              <a:rPr b="1" lang="en-GB" sz="1100">
                <a:solidFill>
                  <a:schemeClr val="dk1"/>
                </a:solidFill>
              </a:rPr>
              <a:t>MAPE of 6.67%</a:t>
            </a:r>
            <a:r>
              <a:rPr lang="en-GB" sz="1100">
                <a:solidFill>
                  <a:schemeClr val="dk1"/>
                </a:solidFill>
              </a:rPr>
              <a:t> is very good, indicating that the model's predictions for this ratio are highly accurate and reliable</a:t>
            </a:r>
            <a:endParaRPr sz="1100">
              <a:solidFill>
                <a:schemeClr val="dk1"/>
              </a:solidFill>
            </a:endParaRPr>
          </a:p>
        </p:txBody>
      </p:sp>
      <p:pic>
        <p:nvPicPr>
          <p:cNvPr id="327" name="Google Shape;327;p37"/>
          <p:cNvPicPr preferRelativeResize="0"/>
          <p:nvPr/>
        </p:nvPicPr>
        <p:blipFill>
          <a:blip r:embed="rId4">
            <a:alphaModFix/>
          </a:blip>
          <a:stretch>
            <a:fillRect/>
          </a:stretch>
        </p:blipFill>
        <p:spPr>
          <a:xfrm>
            <a:off x="152400" y="1010450"/>
            <a:ext cx="4319050" cy="3980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38"/>
          <p:cNvPicPr preferRelativeResize="0"/>
          <p:nvPr/>
        </p:nvPicPr>
        <p:blipFill>
          <a:blip r:embed="rId3">
            <a:alphaModFix/>
          </a:blip>
          <a:stretch>
            <a:fillRect/>
          </a:stretch>
        </p:blipFill>
        <p:spPr>
          <a:xfrm>
            <a:off x="0" y="0"/>
            <a:ext cx="9144000" cy="476250"/>
          </a:xfrm>
          <a:prstGeom prst="rect">
            <a:avLst/>
          </a:prstGeom>
          <a:noFill/>
          <a:ln>
            <a:noFill/>
          </a:ln>
        </p:spPr>
      </p:pic>
      <p:sp>
        <p:nvSpPr>
          <p:cNvPr id="333" name="Google Shape;333;p38"/>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VECM</a:t>
            </a:r>
            <a:endParaRPr b="1" sz="1800">
              <a:solidFill>
                <a:srgbClr val="434343"/>
              </a:solidFill>
            </a:endParaRPr>
          </a:p>
        </p:txBody>
      </p:sp>
      <p:sp>
        <p:nvSpPr>
          <p:cNvPr id="334" name="Google Shape;334;p38"/>
          <p:cNvSpPr txBox="1"/>
          <p:nvPr/>
        </p:nvSpPr>
        <p:spPr>
          <a:xfrm>
            <a:off x="139636" y="575650"/>
            <a:ext cx="5239500" cy="33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Methodology</a:t>
            </a:r>
            <a:endParaRPr sz="1800" u="sng">
              <a:solidFill>
                <a:schemeClr val="dk2"/>
              </a:solidFill>
            </a:endParaRPr>
          </a:p>
        </p:txBody>
      </p:sp>
      <p:sp>
        <p:nvSpPr>
          <p:cNvPr id="335" name="Google Shape;335;p38"/>
          <p:cNvSpPr txBox="1"/>
          <p:nvPr/>
        </p:nvSpPr>
        <p:spPr>
          <a:xfrm>
            <a:off x="580950" y="1135525"/>
            <a:ext cx="7982100" cy="378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GB" sz="1200">
                <a:solidFill>
                  <a:srgbClr val="111A18"/>
                </a:solidFill>
              </a:rPr>
              <a:t>1. </a:t>
            </a:r>
            <a:r>
              <a:rPr b="1" lang="en-GB" sz="1200">
                <a:solidFill>
                  <a:srgbClr val="111A18"/>
                </a:solidFill>
              </a:rPr>
              <a:t>Data Cleaning and Preparation:</a:t>
            </a:r>
            <a:endParaRPr b="1" sz="1200">
              <a:solidFill>
                <a:srgbClr val="111A18"/>
              </a:solidFill>
            </a:endParaRPr>
          </a:p>
          <a:p>
            <a:pPr indent="-304800" lvl="0" marL="457200" rtl="0" algn="l">
              <a:lnSpc>
                <a:spcPct val="115000"/>
              </a:lnSpc>
              <a:spcBef>
                <a:spcPts val="1200"/>
              </a:spcBef>
              <a:spcAft>
                <a:spcPts val="0"/>
              </a:spcAft>
              <a:buClr>
                <a:srgbClr val="111A18"/>
              </a:buClr>
              <a:buSzPts val="1200"/>
              <a:buChar char="●"/>
            </a:pPr>
            <a:r>
              <a:rPr lang="en-GB" sz="1200">
                <a:solidFill>
                  <a:srgbClr val="111A18"/>
                </a:solidFill>
              </a:rPr>
              <a:t>Cleaning</a:t>
            </a:r>
            <a:endParaRPr sz="1200">
              <a:solidFill>
                <a:srgbClr val="111A18"/>
              </a:solidFill>
            </a:endParaRPr>
          </a:p>
          <a:p>
            <a:pPr indent="-304800" lvl="0" marL="457200" rtl="0" algn="l">
              <a:lnSpc>
                <a:spcPct val="115000"/>
              </a:lnSpc>
              <a:spcBef>
                <a:spcPts val="0"/>
              </a:spcBef>
              <a:spcAft>
                <a:spcPts val="0"/>
              </a:spcAft>
              <a:buClr>
                <a:srgbClr val="111A18"/>
              </a:buClr>
              <a:buSzPts val="1200"/>
              <a:buChar char="●"/>
            </a:pPr>
            <a:r>
              <a:rPr lang="en-GB" sz="1200">
                <a:solidFill>
                  <a:srgbClr val="111A18"/>
                </a:solidFill>
              </a:rPr>
              <a:t>[80:20] Data Split</a:t>
            </a:r>
            <a:endParaRPr sz="1200">
              <a:solidFill>
                <a:srgbClr val="111A18"/>
              </a:solidFill>
            </a:endParaRPr>
          </a:p>
          <a:p>
            <a:pPr indent="0" lvl="0" marL="0" rtl="0" algn="l">
              <a:lnSpc>
                <a:spcPct val="115000"/>
              </a:lnSpc>
              <a:spcBef>
                <a:spcPts val="1200"/>
              </a:spcBef>
              <a:spcAft>
                <a:spcPts val="0"/>
              </a:spcAft>
              <a:buNone/>
            </a:pPr>
            <a:r>
              <a:rPr lang="en-GB" sz="1200">
                <a:solidFill>
                  <a:srgbClr val="111A18"/>
                </a:solidFill>
              </a:rPr>
              <a:t>2. </a:t>
            </a:r>
            <a:r>
              <a:rPr b="1" lang="en-GB" sz="1200">
                <a:solidFill>
                  <a:srgbClr val="111A18"/>
                </a:solidFill>
              </a:rPr>
              <a:t>Selection of Lag Order</a:t>
            </a:r>
            <a:endParaRPr b="1" sz="1200">
              <a:solidFill>
                <a:srgbClr val="111A18"/>
              </a:solidFill>
            </a:endParaRPr>
          </a:p>
          <a:p>
            <a:pPr indent="-304800" lvl="0" marL="457200" rtl="0" algn="l">
              <a:lnSpc>
                <a:spcPct val="115000"/>
              </a:lnSpc>
              <a:spcBef>
                <a:spcPts val="1200"/>
              </a:spcBef>
              <a:spcAft>
                <a:spcPts val="0"/>
              </a:spcAft>
              <a:buClr>
                <a:srgbClr val="111A18"/>
              </a:buClr>
              <a:buSzPts val="1200"/>
              <a:buChar char="●"/>
            </a:pPr>
            <a:r>
              <a:rPr lang="en-GB" sz="1200">
                <a:solidFill>
                  <a:srgbClr val="111A18"/>
                </a:solidFill>
              </a:rPr>
              <a:t>Use the same optimal lag as VAR</a:t>
            </a:r>
            <a:endParaRPr sz="1200">
              <a:solidFill>
                <a:srgbClr val="111A18"/>
              </a:solidFill>
            </a:endParaRPr>
          </a:p>
          <a:p>
            <a:pPr indent="0" lvl="0" marL="0" rtl="0" algn="l">
              <a:lnSpc>
                <a:spcPct val="115000"/>
              </a:lnSpc>
              <a:spcBef>
                <a:spcPts val="1200"/>
              </a:spcBef>
              <a:spcAft>
                <a:spcPts val="0"/>
              </a:spcAft>
              <a:buNone/>
            </a:pPr>
            <a:r>
              <a:rPr lang="en-GB" sz="1200">
                <a:solidFill>
                  <a:srgbClr val="111A18"/>
                </a:solidFill>
              </a:rPr>
              <a:t>3. </a:t>
            </a:r>
            <a:r>
              <a:rPr b="1" lang="en-GB" sz="1200">
                <a:solidFill>
                  <a:srgbClr val="111A18"/>
                </a:solidFill>
              </a:rPr>
              <a:t>Determine the Cointegration rank</a:t>
            </a:r>
            <a:endParaRPr b="1" sz="1200">
              <a:solidFill>
                <a:srgbClr val="111A18"/>
              </a:solidFill>
            </a:endParaRPr>
          </a:p>
          <a:p>
            <a:pPr indent="-304800" lvl="0" marL="457200" rtl="0" algn="l">
              <a:lnSpc>
                <a:spcPct val="115000"/>
              </a:lnSpc>
              <a:spcBef>
                <a:spcPts val="1200"/>
              </a:spcBef>
              <a:spcAft>
                <a:spcPts val="0"/>
              </a:spcAft>
              <a:buClr>
                <a:srgbClr val="111A18"/>
              </a:buClr>
              <a:buSzPts val="1200"/>
              <a:buChar char="●"/>
            </a:pPr>
            <a:r>
              <a:rPr lang="en-GB" sz="1200">
                <a:solidFill>
                  <a:srgbClr val="111A18"/>
                </a:solidFill>
              </a:rPr>
              <a:t>Use the Johansen procedure to choose the smallest number of cointegrating relationships where we fail to reject the null regardless of the number of variables</a:t>
            </a:r>
            <a:endParaRPr sz="1200">
              <a:solidFill>
                <a:srgbClr val="111A18"/>
              </a:solidFill>
            </a:endParaRPr>
          </a:p>
          <a:p>
            <a:pPr indent="0" lvl="0" marL="0" rtl="0" algn="l">
              <a:lnSpc>
                <a:spcPct val="115000"/>
              </a:lnSpc>
              <a:spcBef>
                <a:spcPts val="1200"/>
              </a:spcBef>
              <a:spcAft>
                <a:spcPts val="0"/>
              </a:spcAft>
              <a:buNone/>
            </a:pPr>
            <a:r>
              <a:rPr lang="en-GB" sz="1200">
                <a:solidFill>
                  <a:srgbClr val="111A18"/>
                </a:solidFill>
              </a:rPr>
              <a:t>4. </a:t>
            </a:r>
            <a:r>
              <a:rPr b="1" lang="en-GB" sz="1200">
                <a:solidFill>
                  <a:srgbClr val="111A18"/>
                </a:solidFill>
              </a:rPr>
              <a:t>Decide if VECM model can be applied:</a:t>
            </a:r>
            <a:endParaRPr b="1" sz="1200">
              <a:solidFill>
                <a:srgbClr val="111A18"/>
              </a:solidFill>
            </a:endParaRPr>
          </a:p>
          <a:p>
            <a:pPr indent="-304800" lvl="0" marL="457200" rtl="0" algn="l">
              <a:lnSpc>
                <a:spcPct val="115000"/>
              </a:lnSpc>
              <a:spcBef>
                <a:spcPts val="1200"/>
              </a:spcBef>
              <a:spcAft>
                <a:spcPts val="0"/>
              </a:spcAft>
              <a:buClr>
                <a:srgbClr val="111A18"/>
              </a:buClr>
              <a:buSzPts val="1200"/>
              <a:buAutoNum type="arabicPeriod"/>
            </a:pPr>
            <a:r>
              <a:rPr lang="en-GB" sz="1200">
                <a:solidFill>
                  <a:srgbClr val="111A18"/>
                </a:solidFill>
              </a:rPr>
              <a:t>r = 0: build VAR model on differenced data</a:t>
            </a:r>
            <a:endParaRPr sz="1200">
              <a:solidFill>
                <a:srgbClr val="111A18"/>
              </a:solidFill>
            </a:endParaRPr>
          </a:p>
          <a:p>
            <a:pPr indent="-304800" lvl="0" marL="457200" rtl="0" algn="l">
              <a:lnSpc>
                <a:spcPct val="115000"/>
              </a:lnSpc>
              <a:spcBef>
                <a:spcPts val="0"/>
              </a:spcBef>
              <a:spcAft>
                <a:spcPts val="0"/>
              </a:spcAft>
              <a:buClr>
                <a:srgbClr val="111A18"/>
              </a:buClr>
              <a:buSzPts val="1200"/>
              <a:buAutoNum type="arabicPeriod"/>
            </a:pPr>
            <a:r>
              <a:rPr lang="en-GB" sz="1200">
                <a:solidFill>
                  <a:srgbClr val="111A18"/>
                </a:solidFill>
              </a:rPr>
              <a:t>0 &lt; r &lt;= N-1: </a:t>
            </a:r>
            <a:r>
              <a:rPr lang="en-GB" sz="1200" u="sng">
                <a:solidFill>
                  <a:srgbClr val="111A18"/>
                </a:solidFill>
              </a:rPr>
              <a:t>build VECM</a:t>
            </a:r>
            <a:endParaRPr sz="1200" u="sng">
              <a:solidFill>
                <a:srgbClr val="111A18"/>
              </a:solidFill>
            </a:endParaRPr>
          </a:p>
          <a:p>
            <a:pPr indent="-304800" lvl="0" marL="457200" rtl="0" algn="l">
              <a:lnSpc>
                <a:spcPct val="115000"/>
              </a:lnSpc>
              <a:spcBef>
                <a:spcPts val="0"/>
              </a:spcBef>
              <a:spcAft>
                <a:spcPts val="0"/>
              </a:spcAft>
              <a:buClr>
                <a:srgbClr val="111A18"/>
              </a:buClr>
              <a:buSzPts val="1200"/>
              <a:buAutoNum type="arabicPeriod"/>
            </a:pPr>
            <a:r>
              <a:rPr lang="en-GB" sz="1200">
                <a:solidFill>
                  <a:srgbClr val="111A18"/>
                </a:solidFill>
              </a:rPr>
              <a:t>r &gt; N-1: build VAR model on data in levels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pic>
        <p:nvPicPr>
          <p:cNvPr id="340" name="Google Shape;340;p39"/>
          <p:cNvPicPr preferRelativeResize="0"/>
          <p:nvPr/>
        </p:nvPicPr>
        <p:blipFill>
          <a:blip r:embed="rId3">
            <a:alphaModFix/>
          </a:blip>
          <a:stretch>
            <a:fillRect/>
          </a:stretch>
        </p:blipFill>
        <p:spPr>
          <a:xfrm>
            <a:off x="0" y="0"/>
            <a:ext cx="9144000" cy="476250"/>
          </a:xfrm>
          <a:prstGeom prst="rect">
            <a:avLst/>
          </a:prstGeom>
          <a:noFill/>
          <a:ln>
            <a:noFill/>
          </a:ln>
        </p:spPr>
      </p:pic>
      <p:sp>
        <p:nvSpPr>
          <p:cNvPr id="341" name="Google Shape;341;p39"/>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VECM (data of USB)</a:t>
            </a:r>
            <a:endParaRPr b="1" sz="1800">
              <a:solidFill>
                <a:srgbClr val="434343"/>
              </a:solidFill>
            </a:endParaRPr>
          </a:p>
        </p:txBody>
      </p:sp>
      <p:sp>
        <p:nvSpPr>
          <p:cNvPr id="342" name="Google Shape;342;p39"/>
          <p:cNvSpPr txBox="1"/>
          <p:nvPr/>
        </p:nvSpPr>
        <p:spPr>
          <a:xfrm>
            <a:off x="185824" y="524025"/>
            <a:ext cx="5784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Model Selection based on Cointegration Rank:</a:t>
            </a:r>
            <a:endParaRPr sz="1800" u="sng">
              <a:solidFill>
                <a:schemeClr val="dk2"/>
              </a:solidFill>
            </a:endParaRPr>
          </a:p>
        </p:txBody>
      </p:sp>
      <p:pic>
        <p:nvPicPr>
          <p:cNvPr id="343" name="Google Shape;343;p39"/>
          <p:cNvPicPr preferRelativeResize="0"/>
          <p:nvPr/>
        </p:nvPicPr>
        <p:blipFill>
          <a:blip r:embed="rId4">
            <a:alphaModFix/>
          </a:blip>
          <a:stretch>
            <a:fillRect/>
          </a:stretch>
        </p:blipFill>
        <p:spPr>
          <a:xfrm>
            <a:off x="304025" y="1131225"/>
            <a:ext cx="7134225" cy="11239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p40"/>
          <p:cNvPicPr preferRelativeResize="0"/>
          <p:nvPr/>
        </p:nvPicPr>
        <p:blipFill>
          <a:blip r:embed="rId3">
            <a:alphaModFix/>
          </a:blip>
          <a:stretch>
            <a:fillRect/>
          </a:stretch>
        </p:blipFill>
        <p:spPr>
          <a:xfrm>
            <a:off x="0" y="0"/>
            <a:ext cx="9144000" cy="476250"/>
          </a:xfrm>
          <a:prstGeom prst="rect">
            <a:avLst/>
          </a:prstGeom>
          <a:noFill/>
          <a:ln>
            <a:noFill/>
          </a:ln>
        </p:spPr>
      </p:pic>
      <p:sp>
        <p:nvSpPr>
          <p:cNvPr id="349" name="Google Shape;349;p40"/>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VECM (data of FRCB )</a:t>
            </a:r>
            <a:endParaRPr b="1" sz="1800">
              <a:solidFill>
                <a:srgbClr val="434343"/>
              </a:solidFill>
            </a:endParaRPr>
          </a:p>
        </p:txBody>
      </p:sp>
      <p:sp>
        <p:nvSpPr>
          <p:cNvPr id="350" name="Google Shape;350;p40"/>
          <p:cNvSpPr txBox="1"/>
          <p:nvPr/>
        </p:nvSpPr>
        <p:spPr>
          <a:xfrm>
            <a:off x="185824" y="524025"/>
            <a:ext cx="5784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Model Selection based on Cointegration Rank:</a:t>
            </a:r>
            <a:endParaRPr sz="1800" u="sng">
              <a:solidFill>
                <a:schemeClr val="dk2"/>
              </a:solidFill>
            </a:endParaRPr>
          </a:p>
        </p:txBody>
      </p:sp>
      <p:pic>
        <p:nvPicPr>
          <p:cNvPr id="351" name="Google Shape;351;p40"/>
          <p:cNvPicPr preferRelativeResize="0"/>
          <p:nvPr/>
        </p:nvPicPr>
        <p:blipFill>
          <a:blip r:embed="rId4">
            <a:alphaModFix/>
          </a:blip>
          <a:stretch>
            <a:fillRect/>
          </a:stretch>
        </p:blipFill>
        <p:spPr>
          <a:xfrm>
            <a:off x="152400" y="985425"/>
            <a:ext cx="5953125" cy="1019175"/>
          </a:xfrm>
          <a:prstGeom prst="rect">
            <a:avLst/>
          </a:prstGeom>
          <a:noFill/>
          <a:ln>
            <a:noFill/>
          </a:ln>
        </p:spPr>
      </p:pic>
      <p:sp>
        <p:nvSpPr>
          <p:cNvPr id="352" name="Google Shape;352;p40"/>
          <p:cNvSpPr txBox="1"/>
          <p:nvPr/>
        </p:nvSpPr>
        <p:spPr>
          <a:xfrm>
            <a:off x="236812" y="2004600"/>
            <a:ext cx="5784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Error</a:t>
            </a:r>
            <a:r>
              <a:rPr lang="en-GB" sz="1800" u="sng">
                <a:solidFill>
                  <a:schemeClr val="dk2"/>
                </a:solidFill>
              </a:rPr>
              <a:t>:</a:t>
            </a:r>
            <a:endParaRPr sz="1800" u="sng">
              <a:solidFill>
                <a:schemeClr val="dk2"/>
              </a:solidFill>
            </a:endParaRPr>
          </a:p>
        </p:txBody>
      </p:sp>
      <p:pic>
        <p:nvPicPr>
          <p:cNvPr id="353" name="Google Shape;353;p40"/>
          <p:cNvPicPr preferRelativeResize="0"/>
          <p:nvPr/>
        </p:nvPicPr>
        <p:blipFill>
          <a:blip r:embed="rId5">
            <a:alphaModFix/>
          </a:blip>
          <a:stretch>
            <a:fillRect/>
          </a:stretch>
        </p:blipFill>
        <p:spPr>
          <a:xfrm>
            <a:off x="409000" y="2513625"/>
            <a:ext cx="3542501" cy="2531074"/>
          </a:xfrm>
          <a:prstGeom prst="rect">
            <a:avLst/>
          </a:prstGeom>
          <a:noFill/>
          <a:ln>
            <a:noFill/>
          </a:ln>
        </p:spPr>
      </p:pic>
      <p:sp>
        <p:nvSpPr>
          <p:cNvPr id="354" name="Google Shape;354;p40"/>
          <p:cNvSpPr txBox="1"/>
          <p:nvPr/>
        </p:nvSpPr>
        <p:spPr>
          <a:xfrm>
            <a:off x="5811425" y="2617150"/>
            <a:ext cx="1751100" cy="17655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300">
                <a:solidFill>
                  <a:schemeClr val="dk1"/>
                </a:solidFill>
              </a:rPr>
              <a:t>Strengths:</a:t>
            </a:r>
            <a:r>
              <a:rPr lang="en-GB" sz="1300">
                <a:solidFill>
                  <a:schemeClr val="dk1"/>
                </a:solidFill>
              </a:rPr>
              <a:t> Reasonable predictive accuracy for Reserve for Loan Losses and Total Loans to Total Deposits.</a:t>
            </a:r>
            <a:endParaRPr sz="1500">
              <a:solidFill>
                <a:srgbClr val="111A1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pic>
        <p:nvPicPr>
          <p:cNvPr id="359" name="Google Shape;359;p41"/>
          <p:cNvPicPr preferRelativeResize="0"/>
          <p:nvPr/>
        </p:nvPicPr>
        <p:blipFill>
          <a:blip r:embed="rId3">
            <a:alphaModFix/>
          </a:blip>
          <a:stretch>
            <a:fillRect/>
          </a:stretch>
        </p:blipFill>
        <p:spPr>
          <a:xfrm>
            <a:off x="0" y="0"/>
            <a:ext cx="9144000" cy="476250"/>
          </a:xfrm>
          <a:prstGeom prst="rect">
            <a:avLst/>
          </a:prstGeom>
          <a:noFill/>
          <a:ln>
            <a:noFill/>
          </a:ln>
        </p:spPr>
      </p:pic>
      <p:sp>
        <p:nvSpPr>
          <p:cNvPr id="360" name="Google Shape;360;p41"/>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VECM (data of FRCB )</a:t>
            </a:r>
            <a:endParaRPr b="1" sz="1800">
              <a:solidFill>
                <a:srgbClr val="434343"/>
              </a:solidFill>
            </a:endParaRPr>
          </a:p>
        </p:txBody>
      </p:sp>
      <p:sp>
        <p:nvSpPr>
          <p:cNvPr id="361" name="Google Shape;361;p41"/>
          <p:cNvSpPr txBox="1"/>
          <p:nvPr/>
        </p:nvSpPr>
        <p:spPr>
          <a:xfrm>
            <a:off x="185824" y="524025"/>
            <a:ext cx="5784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Forecast</a:t>
            </a:r>
            <a:r>
              <a:rPr lang="en-GB" sz="1800" u="sng">
                <a:solidFill>
                  <a:schemeClr val="dk2"/>
                </a:solidFill>
              </a:rPr>
              <a:t>:</a:t>
            </a:r>
            <a:endParaRPr sz="1800" u="sng">
              <a:solidFill>
                <a:schemeClr val="dk2"/>
              </a:solidFill>
            </a:endParaRPr>
          </a:p>
        </p:txBody>
      </p:sp>
      <p:pic>
        <p:nvPicPr>
          <p:cNvPr id="362" name="Google Shape;362;p41"/>
          <p:cNvPicPr preferRelativeResize="0"/>
          <p:nvPr/>
        </p:nvPicPr>
        <p:blipFill>
          <a:blip r:embed="rId4">
            <a:alphaModFix/>
          </a:blip>
          <a:stretch>
            <a:fillRect/>
          </a:stretch>
        </p:blipFill>
        <p:spPr>
          <a:xfrm>
            <a:off x="152400" y="985425"/>
            <a:ext cx="5858626" cy="2614450"/>
          </a:xfrm>
          <a:prstGeom prst="rect">
            <a:avLst/>
          </a:prstGeom>
          <a:noFill/>
          <a:ln>
            <a:noFill/>
          </a:ln>
        </p:spPr>
      </p:pic>
      <p:sp>
        <p:nvSpPr>
          <p:cNvPr id="363" name="Google Shape;363;p41"/>
          <p:cNvSpPr txBox="1"/>
          <p:nvPr/>
        </p:nvSpPr>
        <p:spPr>
          <a:xfrm>
            <a:off x="6330425" y="786000"/>
            <a:ext cx="2590500" cy="36558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300" u="sng">
                <a:solidFill>
                  <a:schemeClr val="dk1"/>
                </a:solidFill>
              </a:rPr>
              <a:t>Performance Interpretation</a:t>
            </a:r>
            <a:r>
              <a:rPr b="1" lang="en-GB" sz="1300" u="sng">
                <a:solidFill>
                  <a:schemeClr val="dk1"/>
                </a:solidFill>
              </a:rPr>
              <a:t>:</a:t>
            </a:r>
            <a:endParaRPr b="1" sz="1300" u="sng">
              <a:solidFill>
                <a:schemeClr val="dk1"/>
              </a:solidFill>
            </a:endParaRPr>
          </a:p>
          <a:p>
            <a:pPr indent="0" lvl="0" marL="0" rtl="0" algn="l">
              <a:lnSpc>
                <a:spcPct val="115000"/>
              </a:lnSpc>
              <a:spcBef>
                <a:spcPts val="1200"/>
              </a:spcBef>
              <a:spcAft>
                <a:spcPts val="0"/>
              </a:spcAft>
              <a:buNone/>
            </a:pPr>
            <a:r>
              <a:rPr b="1" lang="en-GB" sz="900">
                <a:solidFill>
                  <a:schemeClr val="dk1"/>
                </a:solidFill>
              </a:rPr>
              <a:t>Overprediction:</a:t>
            </a:r>
            <a:r>
              <a:rPr lang="en-GB" sz="900">
                <a:solidFill>
                  <a:schemeClr val="dk1"/>
                </a:solidFill>
              </a:rPr>
              <a:t> The VECM model appears to overpredict the ratio significantly for the forecast period. </a:t>
            </a:r>
            <a:endParaRPr sz="900">
              <a:solidFill>
                <a:schemeClr val="dk1"/>
              </a:solidFill>
            </a:endParaRPr>
          </a:p>
          <a:p>
            <a:pPr indent="0" lvl="0" marL="0" rtl="0" algn="l">
              <a:lnSpc>
                <a:spcPct val="115000"/>
              </a:lnSpc>
              <a:spcBef>
                <a:spcPts val="1200"/>
              </a:spcBef>
              <a:spcAft>
                <a:spcPts val="0"/>
              </a:spcAft>
              <a:buNone/>
            </a:pPr>
            <a:r>
              <a:rPr lang="en-GB" sz="900" u="sng">
                <a:solidFill>
                  <a:schemeClr val="dk1"/>
                </a:solidFill>
              </a:rPr>
              <a:t>Possible Explanations:</a:t>
            </a:r>
            <a:endParaRPr sz="900" u="sng">
              <a:solidFill>
                <a:schemeClr val="dk1"/>
              </a:solidFill>
            </a:endParaRPr>
          </a:p>
          <a:p>
            <a:pPr indent="-285750" lvl="0" marL="457200" rtl="0" algn="l">
              <a:lnSpc>
                <a:spcPct val="115000"/>
              </a:lnSpc>
              <a:spcBef>
                <a:spcPts val="1200"/>
              </a:spcBef>
              <a:spcAft>
                <a:spcPts val="0"/>
              </a:spcAft>
              <a:buClr>
                <a:schemeClr val="dk1"/>
              </a:buClr>
              <a:buSzPts val="900"/>
              <a:buAutoNum type="arabicPeriod"/>
            </a:pPr>
            <a:r>
              <a:rPr b="1" lang="en-GB" sz="900">
                <a:solidFill>
                  <a:schemeClr val="dk1"/>
                </a:solidFill>
              </a:rPr>
              <a:t>Economic or Structural Changes:</a:t>
            </a:r>
            <a:r>
              <a:rPr lang="en-GB" sz="900">
                <a:solidFill>
                  <a:schemeClr val="dk1"/>
                </a:solidFill>
              </a:rPr>
              <a:t> The sudden divergence might reflect economic or bank-specific factors not accounted for in the training period.</a:t>
            </a:r>
            <a:endParaRPr sz="900">
              <a:solidFill>
                <a:schemeClr val="dk1"/>
              </a:solidFill>
            </a:endParaRPr>
          </a:p>
          <a:p>
            <a:pPr indent="-285750" lvl="0" marL="457200" rtl="0" algn="l">
              <a:lnSpc>
                <a:spcPct val="115000"/>
              </a:lnSpc>
              <a:spcBef>
                <a:spcPts val="0"/>
              </a:spcBef>
              <a:spcAft>
                <a:spcPts val="0"/>
              </a:spcAft>
              <a:buClr>
                <a:schemeClr val="dk1"/>
              </a:buClr>
              <a:buSzPts val="900"/>
              <a:buAutoNum type="arabicPeriod"/>
            </a:pPr>
            <a:r>
              <a:rPr b="1" lang="en-GB" sz="1000">
                <a:solidFill>
                  <a:schemeClr val="dk1"/>
                </a:solidFill>
              </a:rPr>
              <a:t>Potential Model Limitation</a:t>
            </a:r>
            <a:r>
              <a:rPr b="1" lang="en-GB" sz="1100">
                <a:solidFill>
                  <a:schemeClr val="dk1"/>
                </a:solidFill>
              </a:rPr>
              <a:t>:</a:t>
            </a:r>
            <a:r>
              <a:rPr lang="en-GB" sz="900">
                <a:solidFill>
                  <a:schemeClr val="dk1"/>
                </a:solidFill>
              </a:rPr>
              <a:t>Since VECM models are designed to capture long-term equilibrium relationships, it’s possible that the model struggled with shorter-term variations or structural changes in FRCRB’s loan-to-deposit dynamics.</a:t>
            </a:r>
            <a:endParaRPr sz="900">
              <a:solidFill>
                <a:schemeClr val="dk1"/>
              </a:solidFill>
            </a:endParaRPr>
          </a:p>
          <a:p>
            <a:pPr indent="0" lvl="0" marL="0" rtl="0" algn="l">
              <a:lnSpc>
                <a:spcPct val="115000"/>
              </a:lnSpc>
              <a:spcBef>
                <a:spcPts val="1200"/>
              </a:spcBef>
              <a:spcAft>
                <a:spcPts val="1200"/>
              </a:spcAft>
              <a:buNone/>
            </a:pPr>
            <a:r>
              <a:t/>
            </a:r>
            <a:endParaRPr sz="13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pic>
        <p:nvPicPr>
          <p:cNvPr id="368" name="Google Shape;368;p42"/>
          <p:cNvPicPr preferRelativeResize="0"/>
          <p:nvPr/>
        </p:nvPicPr>
        <p:blipFill>
          <a:blip r:embed="rId3">
            <a:alphaModFix/>
          </a:blip>
          <a:stretch>
            <a:fillRect/>
          </a:stretch>
        </p:blipFill>
        <p:spPr>
          <a:xfrm>
            <a:off x="0" y="0"/>
            <a:ext cx="9144000" cy="476250"/>
          </a:xfrm>
          <a:prstGeom prst="rect">
            <a:avLst/>
          </a:prstGeom>
          <a:noFill/>
          <a:ln>
            <a:noFill/>
          </a:ln>
        </p:spPr>
      </p:pic>
      <p:sp>
        <p:nvSpPr>
          <p:cNvPr id="369" name="Google Shape;369;p42"/>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VECM (data of Citizens)</a:t>
            </a:r>
            <a:endParaRPr b="1" sz="1800">
              <a:solidFill>
                <a:srgbClr val="434343"/>
              </a:solidFill>
            </a:endParaRPr>
          </a:p>
        </p:txBody>
      </p:sp>
      <p:sp>
        <p:nvSpPr>
          <p:cNvPr id="370" name="Google Shape;370;p42"/>
          <p:cNvSpPr txBox="1"/>
          <p:nvPr/>
        </p:nvSpPr>
        <p:spPr>
          <a:xfrm>
            <a:off x="185824" y="524025"/>
            <a:ext cx="5784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Model Selection based on Cointegration Rank:</a:t>
            </a:r>
            <a:endParaRPr sz="1800" u="sng">
              <a:solidFill>
                <a:schemeClr val="dk2"/>
              </a:solidFill>
            </a:endParaRPr>
          </a:p>
        </p:txBody>
      </p:sp>
      <p:sp>
        <p:nvSpPr>
          <p:cNvPr id="371" name="Google Shape;371;p42"/>
          <p:cNvSpPr txBox="1"/>
          <p:nvPr/>
        </p:nvSpPr>
        <p:spPr>
          <a:xfrm>
            <a:off x="236812" y="2004600"/>
            <a:ext cx="5784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Error:</a:t>
            </a:r>
            <a:endParaRPr sz="1800" u="sng">
              <a:solidFill>
                <a:schemeClr val="dk2"/>
              </a:solidFill>
            </a:endParaRPr>
          </a:p>
        </p:txBody>
      </p:sp>
      <p:pic>
        <p:nvPicPr>
          <p:cNvPr id="372" name="Google Shape;372;p42"/>
          <p:cNvPicPr preferRelativeResize="0"/>
          <p:nvPr/>
        </p:nvPicPr>
        <p:blipFill>
          <a:blip r:embed="rId4">
            <a:alphaModFix/>
          </a:blip>
          <a:stretch>
            <a:fillRect/>
          </a:stretch>
        </p:blipFill>
        <p:spPr>
          <a:xfrm>
            <a:off x="152400" y="985425"/>
            <a:ext cx="5869574" cy="866775"/>
          </a:xfrm>
          <a:prstGeom prst="rect">
            <a:avLst/>
          </a:prstGeom>
          <a:noFill/>
          <a:ln>
            <a:noFill/>
          </a:ln>
        </p:spPr>
      </p:pic>
      <p:pic>
        <p:nvPicPr>
          <p:cNvPr id="373" name="Google Shape;373;p42"/>
          <p:cNvPicPr preferRelativeResize="0"/>
          <p:nvPr/>
        </p:nvPicPr>
        <p:blipFill>
          <a:blip r:embed="rId5">
            <a:alphaModFix/>
          </a:blip>
          <a:stretch>
            <a:fillRect/>
          </a:stretch>
        </p:blipFill>
        <p:spPr>
          <a:xfrm>
            <a:off x="414825" y="2466000"/>
            <a:ext cx="3402081" cy="2525100"/>
          </a:xfrm>
          <a:prstGeom prst="rect">
            <a:avLst/>
          </a:prstGeom>
          <a:noFill/>
          <a:ln>
            <a:noFill/>
          </a:ln>
        </p:spPr>
      </p:pic>
      <p:sp>
        <p:nvSpPr>
          <p:cNvPr id="374" name="Google Shape;374;p42"/>
          <p:cNvSpPr txBox="1"/>
          <p:nvPr/>
        </p:nvSpPr>
        <p:spPr>
          <a:xfrm>
            <a:off x="5811425" y="2617150"/>
            <a:ext cx="1751100" cy="19956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300">
                <a:solidFill>
                  <a:schemeClr val="dk1"/>
                </a:solidFill>
              </a:rPr>
              <a:t>Strengths:</a:t>
            </a:r>
            <a:r>
              <a:rPr lang="en-GB" sz="1300">
                <a:solidFill>
                  <a:schemeClr val="dk1"/>
                </a:solidFill>
              </a:rPr>
              <a:t> Acceptable accuracy for Total Loans to Total Deposits and moderate performance for Non-Performing Loans.</a:t>
            </a:r>
            <a:endParaRPr>
              <a:solidFill>
                <a:srgbClr val="111A18"/>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id="379" name="Google Shape;379;p43"/>
          <p:cNvPicPr preferRelativeResize="0"/>
          <p:nvPr/>
        </p:nvPicPr>
        <p:blipFill>
          <a:blip r:embed="rId3">
            <a:alphaModFix/>
          </a:blip>
          <a:stretch>
            <a:fillRect/>
          </a:stretch>
        </p:blipFill>
        <p:spPr>
          <a:xfrm>
            <a:off x="0" y="0"/>
            <a:ext cx="9144000" cy="476250"/>
          </a:xfrm>
          <a:prstGeom prst="rect">
            <a:avLst/>
          </a:prstGeom>
          <a:noFill/>
          <a:ln>
            <a:noFill/>
          </a:ln>
        </p:spPr>
      </p:pic>
      <p:sp>
        <p:nvSpPr>
          <p:cNvPr id="380" name="Google Shape;380;p43"/>
          <p:cNvSpPr txBox="1"/>
          <p:nvPr/>
        </p:nvSpPr>
        <p:spPr>
          <a:xfrm>
            <a:off x="913225" y="0"/>
            <a:ext cx="34467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VECM (data of Citizens)</a:t>
            </a:r>
            <a:endParaRPr b="1" sz="1800">
              <a:solidFill>
                <a:srgbClr val="434343"/>
              </a:solidFill>
            </a:endParaRPr>
          </a:p>
        </p:txBody>
      </p:sp>
      <p:sp>
        <p:nvSpPr>
          <p:cNvPr id="381" name="Google Shape;381;p43"/>
          <p:cNvSpPr txBox="1"/>
          <p:nvPr/>
        </p:nvSpPr>
        <p:spPr>
          <a:xfrm>
            <a:off x="185824" y="524025"/>
            <a:ext cx="5784300" cy="30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u="sng">
                <a:solidFill>
                  <a:schemeClr val="dk2"/>
                </a:solidFill>
              </a:rPr>
              <a:t>Forecast:</a:t>
            </a:r>
            <a:endParaRPr sz="1800" u="sng">
              <a:solidFill>
                <a:schemeClr val="dk2"/>
              </a:solidFill>
            </a:endParaRPr>
          </a:p>
        </p:txBody>
      </p:sp>
      <p:pic>
        <p:nvPicPr>
          <p:cNvPr id="382" name="Google Shape;382;p43"/>
          <p:cNvPicPr preferRelativeResize="0"/>
          <p:nvPr/>
        </p:nvPicPr>
        <p:blipFill>
          <a:blip r:embed="rId4">
            <a:alphaModFix/>
          </a:blip>
          <a:stretch>
            <a:fillRect/>
          </a:stretch>
        </p:blipFill>
        <p:spPr>
          <a:xfrm>
            <a:off x="152400" y="985425"/>
            <a:ext cx="5933823" cy="2747150"/>
          </a:xfrm>
          <a:prstGeom prst="rect">
            <a:avLst/>
          </a:prstGeom>
          <a:noFill/>
          <a:ln>
            <a:noFill/>
          </a:ln>
        </p:spPr>
      </p:pic>
      <p:sp>
        <p:nvSpPr>
          <p:cNvPr id="383" name="Google Shape;383;p43"/>
          <p:cNvSpPr txBox="1"/>
          <p:nvPr/>
        </p:nvSpPr>
        <p:spPr>
          <a:xfrm>
            <a:off x="6342075" y="768525"/>
            <a:ext cx="2590500" cy="4257600"/>
          </a:xfrm>
          <a:prstGeom prst="rect">
            <a:avLst/>
          </a:prstGeom>
          <a:solidFill>
            <a:schemeClr val="lt1"/>
          </a:solidFill>
          <a:ln cap="flat" cmpd="sng" w="9525">
            <a:solidFill>
              <a:schemeClr val="lt1"/>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300" u="sng">
                <a:solidFill>
                  <a:schemeClr val="dk1"/>
                </a:solidFill>
              </a:rPr>
              <a:t>Performance Interpretation:</a:t>
            </a:r>
            <a:endParaRPr b="1" sz="1300" u="sng">
              <a:solidFill>
                <a:schemeClr val="dk1"/>
              </a:solidFill>
            </a:endParaRPr>
          </a:p>
          <a:p>
            <a:pPr indent="0" lvl="0" marL="0" rtl="0" algn="l">
              <a:lnSpc>
                <a:spcPct val="115000"/>
              </a:lnSpc>
              <a:spcBef>
                <a:spcPts val="1200"/>
              </a:spcBef>
              <a:spcAft>
                <a:spcPts val="0"/>
              </a:spcAft>
              <a:buNone/>
            </a:pPr>
            <a:r>
              <a:rPr b="1" lang="en-GB" sz="900">
                <a:solidFill>
                  <a:schemeClr val="dk1"/>
                </a:solidFill>
              </a:rPr>
              <a:t>Underprediction:</a:t>
            </a:r>
            <a:r>
              <a:rPr lang="en-GB" sz="900">
                <a:solidFill>
                  <a:schemeClr val="dk1"/>
                </a:solidFill>
              </a:rPr>
              <a:t> The VECM model underpredicts the "Total Loans to Total Deposits" ratio, forecasting a sharp decline that does not align with the stable historical trend.</a:t>
            </a:r>
            <a:r>
              <a:rPr lang="en-GB" sz="700">
                <a:solidFill>
                  <a:schemeClr val="dk1"/>
                </a:solidFill>
              </a:rPr>
              <a:t>. </a:t>
            </a:r>
            <a:endParaRPr sz="700">
              <a:solidFill>
                <a:schemeClr val="dk1"/>
              </a:solidFill>
            </a:endParaRPr>
          </a:p>
          <a:p>
            <a:pPr indent="0" lvl="0" marL="0" rtl="0" algn="l">
              <a:lnSpc>
                <a:spcPct val="115000"/>
              </a:lnSpc>
              <a:spcBef>
                <a:spcPts val="1200"/>
              </a:spcBef>
              <a:spcAft>
                <a:spcPts val="0"/>
              </a:spcAft>
              <a:buNone/>
            </a:pPr>
            <a:r>
              <a:rPr lang="en-GB" sz="900" u="sng">
                <a:solidFill>
                  <a:schemeClr val="dk1"/>
                </a:solidFill>
              </a:rPr>
              <a:t>Possible Explanations:</a:t>
            </a:r>
            <a:endParaRPr sz="900" u="sng">
              <a:solidFill>
                <a:schemeClr val="dk1"/>
              </a:solidFill>
            </a:endParaRPr>
          </a:p>
          <a:p>
            <a:pPr indent="-273050" lvl="0" marL="457200" rtl="0" algn="l">
              <a:lnSpc>
                <a:spcPct val="115000"/>
              </a:lnSpc>
              <a:spcBef>
                <a:spcPts val="1200"/>
              </a:spcBef>
              <a:spcAft>
                <a:spcPts val="0"/>
              </a:spcAft>
              <a:buClr>
                <a:schemeClr val="dk1"/>
              </a:buClr>
              <a:buSzPts val="700"/>
              <a:buAutoNum type="arabicPeriod"/>
            </a:pPr>
            <a:r>
              <a:rPr b="1" lang="en-GB" sz="900">
                <a:solidFill>
                  <a:schemeClr val="dk1"/>
                </a:solidFill>
              </a:rPr>
              <a:t>Trend Misinterpretation:</a:t>
            </a:r>
            <a:r>
              <a:rPr lang="en-GB" sz="900">
                <a:solidFill>
                  <a:schemeClr val="dk1"/>
                </a:solidFill>
              </a:rPr>
              <a:t> The training data shows a gradual decline in recent years, which the VECM model might interpret as a signal for a continuous sharp decline. However, this interpretation appears inaccurate in the test period.</a:t>
            </a:r>
            <a:endParaRPr sz="900">
              <a:solidFill>
                <a:schemeClr val="dk1"/>
              </a:solidFill>
            </a:endParaRPr>
          </a:p>
          <a:p>
            <a:pPr indent="-273050" lvl="0" marL="457200" rtl="0" algn="l">
              <a:lnSpc>
                <a:spcPct val="115000"/>
              </a:lnSpc>
              <a:spcBef>
                <a:spcPts val="0"/>
              </a:spcBef>
              <a:spcAft>
                <a:spcPts val="0"/>
              </a:spcAft>
              <a:buClr>
                <a:schemeClr val="dk1"/>
              </a:buClr>
              <a:buSzPts val="700"/>
              <a:buAutoNum type="arabicPeriod"/>
            </a:pPr>
            <a:r>
              <a:rPr b="1" lang="en-GB" sz="900">
                <a:solidFill>
                  <a:schemeClr val="dk1"/>
                </a:solidFill>
              </a:rPr>
              <a:t>External Economic Factors:</a:t>
            </a:r>
            <a:r>
              <a:rPr lang="en-GB" sz="900">
                <a:solidFill>
                  <a:schemeClr val="dk1"/>
                </a:solidFill>
              </a:rPr>
              <a:t> Similar to FRCRB, external factors like changes in customer behavior, market conditions, or interest rates may influence the bank’s deposit-loan dynamics and are not reflected in the model.</a:t>
            </a:r>
            <a:endParaRPr sz="800">
              <a:solidFill>
                <a:schemeClr val="dk1"/>
              </a:solidFill>
            </a:endParaRPr>
          </a:p>
          <a:p>
            <a:pPr indent="0" lvl="0" marL="0" rtl="0" algn="l">
              <a:lnSpc>
                <a:spcPct val="115000"/>
              </a:lnSpc>
              <a:spcBef>
                <a:spcPts val="1200"/>
              </a:spcBef>
              <a:spcAft>
                <a:spcPts val="1200"/>
              </a:spcAft>
              <a:buNone/>
            </a:pPr>
            <a:r>
              <a:t/>
            </a:r>
            <a:endParaRPr sz="13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pic>
        <p:nvPicPr>
          <p:cNvPr id="388" name="Google Shape;388;p44"/>
          <p:cNvPicPr preferRelativeResize="0"/>
          <p:nvPr/>
        </p:nvPicPr>
        <p:blipFill>
          <a:blip r:embed="rId3">
            <a:alphaModFix/>
          </a:blip>
          <a:stretch>
            <a:fillRect/>
          </a:stretch>
        </p:blipFill>
        <p:spPr>
          <a:xfrm>
            <a:off x="0" y="0"/>
            <a:ext cx="9144000" cy="476250"/>
          </a:xfrm>
          <a:prstGeom prst="rect">
            <a:avLst/>
          </a:prstGeom>
          <a:noFill/>
          <a:ln>
            <a:noFill/>
          </a:ln>
        </p:spPr>
      </p:pic>
      <p:sp>
        <p:nvSpPr>
          <p:cNvPr id="389" name="Google Shape;389;p44"/>
          <p:cNvSpPr txBox="1"/>
          <p:nvPr/>
        </p:nvSpPr>
        <p:spPr>
          <a:xfrm>
            <a:off x="913225" y="0"/>
            <a:ext cx="4677900" cy="4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rgbClr val="434343"/>
                </a:solidFill>
              </a:rPr>
              <a:t>Comparison of Models for FRCB</a:t>
            </a:r>
            <a:endParaRPr b="1" sz="1800">
              <a:solidFill>
                <a:srgbClr val="434343"/>
              </a:solidFill>
            </a:endParaRPr>
          </a:p>
        </p:txBody>
      </p:sp>
      <p:graphicFrame>
        <p:nvGraphicFramePr>
          <p:cNvPr id="390" name="Google Shape;390;p44"/>
          <p:cNvGraphicFramePr/>
          <p:nvPr/>
        </p:nvGraphicFramePr>
        <p:xfrm>
          <a:off x="347525" y="612300"/>
          <a:ext cx="3000000" cy="3000000"/>
        </p:xfrm>
        <a:graphic>
          <a:graphicData uri="http://schemas.openxmlformats.org/drawingml/2006/table">
            <a:tbl>
              <a:tblPr>
                <a:noFill/>
                <a:tableStyleId>{20F507F9-678D-4001-AFCF-B320A586C72B}</a:tableStyleId>
              </a:tblPr>
              <a:tblGrid>
                <a:gridCol w="760725"/>
                <a:gridCol w="724325"/>
                <a:gridCol w="736025"/>
                <a:gridCol w="1245125"/>
                <a:gridCol w="1681175"/>
                <a:gridCol w="1382600"/>
                <a:gridCol w="905075"/>
                <a:gridCol w="1271575"/>
              </a:tblGrid>
              <a:tr h="842775">
                <a:tc>
                  <a:txBody>
                    <a:bodyPr/>
                    <a:lstStyle/>
                    <a:p>
                      <a:pPr indent="0" lvl="0" marL="0" rtl="0" algn="l">
                        <a:spcBef>
                          <a:spcPts val="0"/>
                        </a:spcBef>
                        <a:spcAft>
                          <a:spcPts val="0"/>
                        </a:spcAft>
                        <a:buNone/>
                      </a:pPr>
                      <a:r>
                        <a:rPr b="1" lang="en-GB"/>
                        <a:t>Model</a:t>
                      </a:r>
                      <a:endParaRPr b="1"/>
                    </a:p>
                  </a:txBody>
                  <a:tcPr marT="91425" marB="91425" marR="91425" marL="91425"/>
                </a:tc>
                <a:tc>
                  <a:txBody>
                    <a:bodyPr/>
                    <a:lstStyle/>
                    <a:p>
                      <a:pPr indent="0" lvl="0" marL="0" rtl="0" algn="l">
                        <a:spcBef>
                          <a:spcPts val="0"/>
                        </a:spcBef>
                        <a:spcAft>
                          <a:spcPts val="0"/>
                        </a:spcAft>
                        <a:buNone/>
                      </a:pPr>
                      <a:r>
                        <a:rPr b="1" lang="en-GB"/>
                        <a:t>RMSE</a:t>
                      </a:r>
                      <a:endParaRPr b="1"/>
                    </a:p>
                  </a:txBody>
                  <a:tcPr marT="91425" marB="91425" marR="91425" marL="91425"/>
                </a:tc>
                <a:tc>
                  <a:txBody>
                    <a:bodyPr/>
                    <a:lstStyle/>
                    <a:p>
                      <a:pPr indent="0" lvl="0" marL="0" rtl="0" algn="l">
                        <a:spcBef>
                          <a:spcPts val="0"/>
                        </a:spcBef>
                        <a:spcAft>
                          <a:spcPts val="0"/>
                        </a:spcAft>
                        <a:buNone/>
                      </a:pPr>
                      <a:r>
                        <a:rPr b="1" lang="en-GB"/>
                        <a:t>MAPE</a:t>
                      </a:r>
                      <a:endParaRPr b="1"/>
                    </a:p>
                  </a:txBody>
                  <a:tcPr marT="91425" marB="91425" marR="91425" marL="91425"/>
                </a:tc>
                <a:tc>
                  <a:txBody>
                    <a:bodyPr/>
                    <a:lstStyle/>
                    <a:p>
                      <a:pPr indent="0" lvl="0" marL="0" rtl="0" algn="l">
                        <a:spcBef>
                          <a:spcPts val="0"/>
                        </a:spcBef>
                        <a:spcAft>
                          <a:spcPts val="0"/>
                        </a:spcAft>
                        <a:buNone/>
                      </a:pPr>
                      <a:r>
                        <a:rPr b="1" lang="en-GB"/>
                        <a:t>Forecast Accuracy</a:t>
                      </a:r>
                      <a:endParaRPr b="1"/>
                    </a:p>
                  </a:txBody>
                  <a:tcPr marT="91425" marB="91425" marR="91425" marL="91425"/>
                </a:tc>
                <a:tc>
                  <a:txBody>
                    <a:bodyPr/>
                    <a:lstStyle/>
                    <a:p>
                      <a:pPr indent="0" lvl="0" marL="0" rtl="0" algn="l">
                        <a:spcBef>
                          <a:spcPts val="0"/>
                        </a:spcBef>
                        <a:spcAft>
                          <a:spcPts val="0"/>
                        </a:spcAft>
                        <a:buNone/>
                      </a:pPr>
                      <a:r>
                        <a:rPr b="1" lang="en-GB"/>
                        <a:t>Key Strengths</a:t>
                      </a:r>
                      <a:endParaRPr b="1"/>
                    </a:p>
                  </a:txBody>
                  <a:tcPr marT="91425" marB="91425" marR="91425" marL="91425"/>
                </a:tc>
                <a:tc>
                  <a:txBody>
                    <a:bodyPr/>
                    <a:lstStyle/>
                    <a:p>
                      <a:pPr indent="0" lvl="0" marL="0" rtl="0" algn="l">
                        <a:spcBef>
                          <a:spcPts val="0"/>
                        </a:spcBef>
                        <a:spcAft>
                          <a:spcPts val="0"/>
                        </a:spcAft>
                        <a:buNone/>
                      </a:pPr>
                      <a:r>
                        <a:rPr b="1" lang="en-GB"/>
                        <a:t>Key Weaknesses</a:t>
                      </a:r>
                      <a:endParaRPr b="1"/>
                    </a:p>
                  </a:txBody>
                  <a:tcPr marT="91425" marB="91425" marR="91425" marL="91425"/>
                </a:tc>
                <a:tc>
                  <a:txBody>
                    <a:bodyPr/>
                    <a:lstStyle/>
                    <a:p>
                      <a:pPr indent="0" lvl="0" marL="0" rtl="0" algn="l">
                        <a:spcBef>
                          <a:spcPts val="0"/>
                        </a:spcBef>
                        <a:spcAft>
                          <a:spcPts val="0"/>
                        </a:spcAft>
                        <a:buNone/>
                      </a:pPr>
                      <a:r>
                        <a:rPr b="1" lang="en-GB"/>
                        <a:t>Trend Capture</a:t>
                      </a:r>
                      <a:endParaRPr b="1"/>
                    </a:p>
                  </a:txBody>
                  <a:tcPr marT="91425" marB="91425" marR="91425" marL="91425"/>
                </a:tc>
                <a:tc>
                  <a:txBody>
                    <a:bodyPr/>
                    <a:lstStyle/>
                    <a:p>
                      <a:pPr indent="0" lvl="0" marL="0" rtl="0" algn="l">
                        <a:spcBef>
                          <a:spcPts val="0"/>
                        </a:spcBef>
                        <a:spcAft>
                          <a:spcPts val="0"/>
                        </a:spcAft>
                        <a:buNone/>
                      </a:pPr>
                      <a:r>
                        <a:rPr b="1" lang="en-GB"/>
                        <a:t>Suitability for Stability Analysis</a:t>
                      </a:r>
                      <a:endParaRPr b="1"/>
                    </a:p>
                  </a:txBody>
                  <a:tcPr marT="91425" marB="91425" marR="91425" marL="91425"/>
                </a:tc>
              </a:tr>
              <a:tr h="811550">
                <a:tc>
                  <a:txBody>
                    <a:bodyPr/>
                    <a:lstStyle/>
                    <a:p>
                      <a:pPr indent="0" lvl="0" marL="0" rtl="0" algn="l">
                        <a:spcBef>
                          <a:spcPts val="0"/>
                        </a:spcBef>
                        <a:spcAft>
                          <a:spcPts val="0"/>
                        </a:spcAft>
                        <a:buNone/>
                      </a:pPr>
                      <a:r>
                        <a:rPr lang="en-GB" sz="1000"/>
                        <a:t>OLS</a:t>
                      </a:r>
                      <a:endParaRPr sz="1000"/>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0000FF"/>
                          </a:solidFill>
                        </a:rPr>
                        <a:t>4.05</a:t>
                      </a:r>
                      <a:endParaRPr sz="1000">
                        <a:solidFill>
                          <a:srgbClr val="0000FF"/>
                        </a:solidFill>
                      </a:endParaRPr>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0000FF"/>
                          </a:solidFill>
                        </a:rPr>
                        <a:t>4.16%</a:t>
                      </a:r>
                      <a:endParaRPr sz="1000">
                        <a:solidFill>
                          <a:srgbClr val="0000FF"/>
                        </a:solidFill>
                      </a:endParaRPr>
                    </a:p>
                  </a:txBody>
                  <a:tcPr marT="91425" marB="91425" marR="91425" marL="91425"/>
                </a:tc>
                <a:tc>
                  <a:txBody>
                    <a:bodyPr/>
                    <a:lstStyle/>
                    <a:p>
                      <a:pPr indent="0" lvl="0" marL="0" rtl="0" algn="l">
                        <a:spcBef>
                          <a:spcPts val="0"/>
                        </a:spcBef>
                        <a:spcAft>
                          <a:spcPts val="0"/>
                        </a:spcAft>
                        <a:buNone/>
                      </a:pPr>
                      <a:r>
                        <a:rPr lang="en-GB" sz="1000">
                          <a:highlight>
                            <a:srgbClr val="00FF00"/>
                          </a:highlight>
                        </a:rPr>
                        <a:t>High</a:t>
                      </a:r>
                      <a:endParaRPr sz="1000">
                        <a:highlight>
                          <a:srgbClr val="00FF00"/>
                        </a:highlight>
                      </a:endParaRPr>
                    </a:p>
                  </a:txBody>
                  <a:tcPr marT="91425" marB="91425" marR="91425" marL="91425"/>
                </a:tc>
                <a:tc>
                  <a:txBody>
                    <a:bodyPr/>
                    <a:lstStyle/>
                    <a:p>
                      <a:pPr indent="0" lvl="0" marL="0" rtl="0" algn="l">
                        <a:spcBef>
                          <a:spcPts val="0"/>
                        </a:spcBef>
                        <a:spcAft>
                          <a:spcPts val="0"/>
                        </a:spcAft>
                        <a:buNone/>
                      </a:pPr>
                      <a:r>
                        <a:rPr lang="en-GB" sz="1000"/>
                        <a:t>Simple, interpretable; captures overall trend well</a:t>
                      </a:r>
                      <a:endParaRPr sz="1000"/>
                    </a:p>
                  </a:txBody>
                  <a:tcPr marT="91425" marB="91425" marR="91425" marL="91425"/>
                </a:tc>
                <a:tc>
                  <a:txBody>
                    <a:bodyPr/>
                    <a:lstStyle/>
                    <a:p>
                      <a:pPr indent="0" lvl="0" marL="0" rtl="0" algn="l">
                        <a:spcBef>
                          <a:spcPts val="0"/>
                        </a:spcBef>
                        <a:spcAft>
                          <a:spcPts val="0"/>
                        </a:spcAft>
                        <a:buNone/>
                      </a:pPr>
                      <a:r>
                        <a:rPr lang="en-GB" sz="1000"/>
                        <a:t>May miss complex patterns or sudden shifts</a:t>
                      </a:r>
                      <a:endParaRPr sz="1000"/>
                    </a:p>
                  </a:txBody>
                  <a:tcPr marT="91425" marB="91425" marR="91425" marL="91425"/>
                </a:tc>
                <a:tc>
                  <a:txBody>
                    <a:bodyPr/>
                    <a:lstStyle/>
                    <a:p>
                      <a:pPr indent="0" lvl="0" marL="0" rtl="0" algn="l">
                        <a:spcBef>
                          <a:spcPts val="0"/>
                        </a:spcBef>
                        <a:spcAft>
                          <a:spcPts val="0"/>
                        </a:spcAft>
                        <a:buNone/>
                      </a:pPr>
                      <a:r>
                        <a:rPr lang="en-GB" sz="1000">
                          <a:highlight>
                            <a:srgbClr val="00FF00"/>
                          </a:highlight>
                        </a:rPr>
                        <a:t>Good</a:t>
                      </a:r>
                      <a:endParaRPr sz="1000">
                        <a:highlight>
                          <a:srgbClr val="00FF00"/>
                        </a:highlight>
                      </a:endParaRPr>
                    </a:p>
                  </a:txBody>
                  <a:tcPr marT="91425" marB="91425" marR="91425" marL="91425"/>
                </a:tc>
                <a:tc>
                  <a:txBody>
                    <a:bodyPr/>
                    <a:lstStyle/>
                    <a:p>
                      <a:pPr indent="0" lvl="0" marL="0" rtl="0" algn="l">
                        <a:spcBef>
                          <a:spcPts val="0"/>
                        </a:spcBef>
                        <a:spcAft>
                          <a:spcPts val="0"/>
                        </a:spcAft>
                        <a:buNone/>
                      </a:pPr>
                      <a:r>
                        <a:rPr lang="en-GB" sz="1000"/>
                        <a:t>Suitable; stable model for gradual changes</a:t>
                      </a:r>
                      <a:endParaRPr sz="1000"/>
                    </a:p>
                  </a:txBody>
                  <a:tcPr marT="91425" marB="91425" marR="91425" marL="91425"/>
                </a:tc>
              </a:tr>
              <a:tr h="862775">
                <a:tc>
                  <a:txBody>
                    <a:bodyPr/>
                    <a:lstStyle/>
                    <a:p>
                      <a:pPr indent="0" lvl="0" marL="0" rtl="0" algn="l">
                        <a:spcBef>
                          <a:spcPts val="0"/>
                        </a:spcBef>
                        <a:spcAft>
                          <a:spcPts val="0"/>
                        </a:spcAft>
                        <a:buNone/>
                      </a:pPr>
                      <a:r>
                        <a:rPr lang="en-GB" sz="1000"/>
                        <a:t>ARIMA</a:t>
                      </a:r>
                      <a:endParaRPr sz="1000"/>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0000FF"/>
                          </a:solidFill>
                        </a:rPr>
                        <a:t>4.2</a:t>
                      </a:r>
                      <a:endParaRPr sz="1000">
                        <a:solidFill>
                          <a:srgbClr val="0000FF"/>
                        </a:solidFill>
                      </a:endParaRPr>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0000FF"/>
                          </a:solidFill>
                        </a:rPr>
                        <a:t>3.73%</a:t>
                      </a:r>
                      <a:endParaRPr sz="1000">
                        <a:solidFill>
                          <a:srgbClr val="0000FF"/>
                        </a:solidFill>
                      </a:endParaRPr>
                    </a:p>
                  </a:txBody>
                  <a:tcPr marT="91425" marB="91425" marR="91425" marL="91425"/>
                </a:tc>
                <a:tc>
                  <a:txBody>
                    <a:bodyPr/>
                    <a:lstStyle/>
                    <a:p>
                      <a:pPr indent="0" lvl="0" marL="0" rtl="0" algn="l">
                        <a:spcBef>
                          <a:spcPts val="0"/>
                        </a:spcBef>
                        <a:spcAft>
                          <a:spcPts val="0"/>
                        </a:spcAft>
                        <a:buNone/>
                      </a:pPr>
                      <a:r>
                        <a:rPr lang="en-GB" sz="1000">
                          <a:highlight>
                            <a:srgbClr val="00FF00"/>
                          </a:highlight>
                        </a:rPr>
                        <a:t>High</a:t>
                      </a:r>
                      <a:endParaRPr sz="1000">
                        <a:solidFill>
                          <a:srgbClr val="93C47D"/>
                        </a:solidFill>
                        <a:highlight>
                          <a:srgbClr val="00FF00"/>
                        </a:highlight>
                      </a:endParaRPr>
                    </a:p>
                  </a:txBody>
                  <a:tcPr marT="91425" marB="91425" marR="91425" marL="91425"/>
                </a:tc>
                <a:tc>
                  <a:txBody>
                    <a:bodyPr/>
                    <a:lstStyle/>
                    <a:p>
                      <a:pPr indent="0" lvl="0" marL="0" rtl="0" algn="l">
                        <a:spcBef>
                          <a:spcPts val="0"/>
                        </a:spcBef>
                        <a:spcAft>
                          <a:spcPts val="0"/>
                        </a:spcAft>
                        <a:buNone/>
                      </a:pPr>
                      <a:r>
                        <a:rPr lang="en-GB" sz="1000"/>
                        <a:t>Effective for linear trends and seasonality</a:t>
                      </a:r>
                      <a:endParaRPr sz="1000"/>
                    </a:p>
                  </a:txBody>
                  <a:tcPr marT="91425" marB="91425" marR="91425" marL="91425"/>
                </a:tc>
                <a:tc>
                  <a:txBody>
                    <a:bodyPr/>
                    <a:lstStyle/>
                    <a:p>
                      <a:pPr indent="0" lvl="0" marL="0" rtl="0" algn="l">
                        <a:spcBef>
                          <a:spcPts val="0"/>
                        </a:spcBef>
                        <a:spcAft>
                          <a:spcPts val="0"/>
                        </a:spcAft>
                        <a:buNone/>
                      </a:pPr>
                      <a:r>
                        <a:rPr lang="en-GB" sz="1000"/>
                        <a:t>Underestimates sharp trend reversals in volatile periods</a:t>
                      </a:r>
                      <a:endParaRPr sz="1000"/>
                    </a:p>
                  </a:txBody>
                  <a:tcPr marT="91425" marB="91425" marR="91425" marL="91425"/>
                </a:tc>
                <a:tc>
                  <a:txBody>
                    <a:bodyPr/>
                    <a:lstStyle/>
                    <a:p>
                      <a:pPr indent="0" lvl="0" marL="0" rtl="0" algn="l">
                        <a:spcBef>
                          <a:spcPts val="0"/>
                        </a:spcBef>
                        <a:spcAft>
                          <a:spcPts val="0"/>
                        </a:spcAft>
                        <a:buNone/>
                      </a:pPr>
                      <a:r>
                        <a:rPr lang="en-GB" sz="1000">
                          <a:highlight>
                            <a:srgbClr val="00FF00"/>
                          </a:highlight>
                        </a:rPr>
                        <a:t>Good</a:t>
                      </a:r>
                      <a:endParaRPr sz="1000">
                        <a:highlight>
                          <a:srgbClr val="00FF00"/>
                        </a:highlight>
                      </a:endParaRPr>
                    </a:p>
                  </a:txBody>
                  <a:tcPr marT="91425" marB="91425" marR="91425" marL="91425"/>
                </a:tc>
                <a:tc>
                  <a:txBody>
                    <a:bodyPr/>
                    <a:lstStyle/>
                    <a:p>
                      <a:pPr indent="0" lvl="0" marL="0" rtl="0" algn="l">
                        <a:spcBef>
                          <a:spcPts val="0"/>
                        </a:spcBef>
                        <a:spcAft>
                          <a:spcPts val="0"/>
                        </a:spcAft>
                        <a:buNone/>
                      </a:pPr>
                      <a:r>
                        <a:rPr lang="en-GB" sz="1000"/>
                        <a:t>Suitable; flexible but less adaptive to extreme shifts</a:t>
                      </a:r>
                      <a:endParaRPr sz="1000"/>
                    </a:p>
                  </a:txBody>
                  <a:tcPr marT="91425" marB="91425" marR="91425" marL="91425"/>
                </a:tc>
              </a:tr>
              <a:tr h="967650">
                <a:tc>
                  <a:txBody>
                    <a:bodyPr/>
                    <a:lstStyle/>
                    <a:p>
                      <a:pPr indent="0" lvl="0" marL="0" rtl="0" algn="l">
                        <a:spcBef>
                          <a:spcPts val="0"/>
                        </a:spcBef>
                        <a:spcAft>
                          <a:spcPts val="0"/>
                        </a:spcAft>
                        <a:buNone/>
                      </a:pPr>
                      <a:r>
                        <a:rPr lang="en-GB" sz="1000"/>
                        <a:t>VAR</a:t>
                      </a:r>
                      <a:endParaRPr sz="1000"/>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0000FF"/>
                          </a:solidFill>
                        </a:rPr>
                        <a:t>7.19</a:t>
                      </a:r>
                      <a:endParaRPr sz="1000">
                        <a:solidFill>
                          <a:srgbClr val="0000FF"/>
                        </a:solidFill>
                      </a:endParaRPr>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0000FF"/>
                          </a:solidFill>
                        </a:rPr>
                        <a:t>6.67%</a:t>
                      </a:r>
                      <a:endParaRPr sz="1000">
                        <a:solidFill>
                          <a:srgbClr val="0000FF"/>
                        </a:solidFill>
                      </a:endParaRPr>
                    </a:p>
                  </a:txBody>
                  <a:tcPr marT="91425" marB="91425" marR="91425" marL="91425"/>
                </a:tc>
                <a:tc>
                  <a:txBody>
                    <a:bodyPr/>
                    <a:lstStyle/>
                    <a:p>
                      <a:pPr indent="0" lvl="0" marL="0" rtl="0" algn="l">
                        <a:spcBef>
                          <a:spcPts val="0"/>
                        </a:spcBef>
                        <a:spcAft>
                          <a:spcPts val="0"/>
                        </a:spcAft>
                        <a:buNone/>
                      </a:pPr>
                      <a:r>
                        <a:rPr lang="en-GB" sz="1000"/>
                        <a:t>Moderate</a:t>
                      </a:r>
                      <a:endParaRPr sz="1000"/>
                    </a:p>
                  </a:txBody>
                  <a:tcPr marT="91425" marB="91425" marR="91425" marL="91425"/>
                </a:tc>
                <a:tc>
                  <a:txBody>
                    <a:bodyPr/>
                    <a:lstStyle/>
                    <a:p>
                      <a:pPr indent="0" lvl="0" marL="0" rtl="0" algn="l">
                        <a:spcBef>
                          <a:spcPts val="0"/>
                        </a:spcBef>
                        <a:spcAft>
                          <a:spcPts val="0"/>
                        </a:spcAft>
                        <a:buNone/>
                      </a:pPr>
                      <a:r>
                        <a:rPr lang="en-GB" sz="1000"/>
                        <a:t>Handles multiple interdependent variables well</a:t>
                      </a:r>
                      <a:endParaRPr sz="1000"/>
                    </a:p>
                  </a:txBody>
                  <a:tcPr marT="91425" marB="91425" marR="91425" marL="91425"/>
                </a:tc>
                <a:tc>
                  <a:txBody>
                    <a:bodyPr/>
                    <a:lstStyle/>
                    <a:p>
                      <a:pPr indent="0" lvl="0" marL="0" rtl="0" algn="l">
                        <a:spcBef>
                          <a:spcPts val="0"/>
                        </a:spcBef>
                        <a:spcAft>
                          <a:spcPts val="0"/>
                        </a:spcAft>
                        <a:buNone/>
                      </a:pPr>
                      <a:r>
                        <a:rPr lang="en-GB" sz="1000"/>
                        <a:t>High error; struggles with short-term fluctuations</a:t>
                      </a:r>
                      <a:endParaRPr sz="1000"/>
                    </a:p>
                  </a:txBody>
                  <a:tcPr marT="91425" marB="91425" marR="91425" marL="91425"/>
                </a:tc>
                <a:tc>
                  <a:txBody>
                    <a:bodyPr/>
                    <a:lstStyle/>
                    <a:p>
                      <a:pPr indent="0" lvl="0" marL="0" rtl="0" algn="l">
                        <a:spcBef>
                          <a:spcPts val="0"/>
                        </a:spcBef>
                        <a:spcAft>
                          <a:spcPts val="0"/>
                        </a:spcAft>
                        <a:buNone/>
                      </a:pPr>
                      <a:r>
                        <a:rPr lang="en-GB" sz="1000"/>
                        <a:t>Moderate</a:t>
                      </a:r>
                      <a:endParaRPr sz="1000"/>
                    </a:p>
                  </a:txBody>
                  <a:tcPr marT="91425" marB="91425" marR="91425" marL="91425"/>
                </a:tc>
                <a:tc>
                  <a:txBody>
                    <a:bodyPr/>
                    <a:lstStyle/>
                    <a:p>
                      <a:pPr indent="0" lvl="0" marL="0" rtl="0" algn="l">
                        <a:spcBef>
                          <a:spcPts val="0"/>
                        </a:spcBef>
                        <a:spcAft>
                          <a:spcPts val="0"/>
                        </a:spcAft>
                        <a:buNone/>
                      </a:pPr>
                      <a:r>
                        <a:rPr lang="en-GB" sz="1000"/>
                        <a:t>Less suitable; accuracy dependent on variable relationships</a:t>
                      </a:r>
                      <a:endParaRPr sz="1000"/>
                    </a:p>
                  </a:txBody>
                  <a:tcPr marT="91425" marB="91425" marR="91425" marL="91425"/>
                </a:tc>
              </a:tr>
              <a:tr h="972600">
                <a:tc>
                  <a:txBody>
                    <a:bodyPr/>
                    <a:lstStyle/>
                    <a:p>
                      <a:pPr indent="0" lvl="0" marL="0" rtl="0" algn="l">
                        <a:spcBef>
                          <a:spcPts val="0"/>
                        </a:spcBef>
                        <a:spcAft>
                          <a:spcPts val="0"/>
                        </a:spcAft>
                        <a:buNone/>
                      </a:pPr>
                      <a:r>
                        <a:rPr lang="en-GB" sz="1000"/>
                        <a:t>VECM</a:t>
                      </a:r>
                      <a:endParaRPr sz="1000"/>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FF0000"/>
                          </a:solidFill>
                        </a:rPr>
                        <a:t>33.84</a:t>
                      </a:r>
                      <a:endParaRPr sz="1000">
                        <a:solidFill>
                          <a:srgbClr val="FF0000"/>
                        </a:solidFill>
                      </a:endParaRPr>
                    </a:p>
                  </a:txBody>
                  <a:tcPr marT="91425" marB="91425" marR="91425" marL="91425"/>
                </a:tc>
                <a:tc>
                  <a:txBody>
                    <a:bodyPr/>
                    <a:lstStyle/>
                    <a:p>
                      <a:pPr indent="0" lvl="0" marL="0" rtl="0" algn="r">
                        <a:lnSpc>
                          <a:spcPct val="115000"/>
                        </a:lnSpc>
                        <a:spcBef>
                          <a:spcPts val="0"/>
                        </a:spcBef>
                        <a:spcAft>
                          <a:spcPts val="0"/>
                        </a:spcAft>
                        <a:buNone/>
                      </a:pPr>
                      <a:r>
                        <a:rPr lang="en-GB" sz="1000">
                          <a:solidFill>
                            <a:srgbClr val="FF0000"/>
                          </a:solidFill>
                        </a:rPr>
                        <a:t>31.14%</a:t>
                      </a:r>
                      <a:endParaRPr sz="1000">
                        <a:solidFill>
                          <a:srgbClr val="FF0000"/>
                        </a:solidFill>
                      </a:endParaRPr>
                    </a:p>
                  </a:txBody>
                  <a:tcPr marT="91425" marB="91425" marR="91425" marL="91425"/>
                </a:tc>
                <a:tc>
                  <a:txBody>
                    <a:bodyPr/>
                    <a:lstStyle/>
                    <a:p>
                      <a:pPr indent="0" lvl="0" marL="0" rtl="0" algn="l">
                        <a:spcBef>
                          <a:spcPts val="0"/>
                        </a:spcBef>
                        <a:spcAft>
                          <a:spcPts val="0"/>
                        </a:spcAft>
                        <a:buNone/>
                      </a:pPr>
                      <a:r>
                        <a:rPr lang="en-GB" sz="1000">
                          <a:highlight>
                            <a:srgbClr val="FF0000"/>
                          </a:highlight>
                        </a:rPr>
                        <a:t>Low</a:t>
                      </a:r>
                      <a:endParaRPr sz="1000">
                        <a:highlight>
                          <a:srgbClr val="FF0000"/>
                        </a:highlight>
                      </a:endParaRPr>
                    </a:p>
                  </a:txBody>
                  <a:tcPr marT="91425" marB="91425" marR="91425" marL="91425"/>
                </a:tc>
                <a:tc>
                  <a:txBody>
                    <a:bodyPr/>
                    <a:lstStyle/>
                    <a:p>
                      <a:pPr indent="0" lvl="0" marL="0" rtl="0" algn="l">
                        <a:spcBef>
                          <a:spcPts val="0"/>
                        </a:spcBef>
                        <a:spcAft>
                          <a:spcPts val="0"/>
                        </a:spcAft>
                        <a:buNone/>
                      </a:pPr>
                      <a:r>
                        <a:rPr lang="en-GB" sz="1000"/>
                        <a:t>Suitable for cointegrated series with long-term relationships</a:t>
                      </a:r>
                      <a:endParaRPr sz="1000"/>
                    </a:p>
                  </a:txBody>
                  <a:tcPr marT="91425" marB="91425" marR="91425" marL="91425"/>
                </a:tc>
                <a:tc>
                  <a:txBody>
                    <a:bodyPr/>
                    <a:lstStyle/>
                    <a:p>
                      <a:pPr indent="0" lvl="0" marL="0" rtl="0" algn="l">
                        <a:spcBef>
                          <a:spcPts val="0"/>
                        </a:spcBef>
                        <a:spcAft>
                          <a:spcPts val="0"/>
                        </a:spcAft>
                        <a:buNone/>
                      </a:pPr>
                      <a:r>
                        <a:rPr lang="en-GB" sz="1000"/>
                        <a:t>High error, significant overestimation of trend</a:t>
                      </a:r>
                      <a:endParaRPr sz="1000"/>
                    </a:p>
                  </a:txBody>
                  <a:tcPr marT="91425" marB="91425" marR="91425" marL="91425"/>
                </a:tc>
                <a:tc>
                  <a:txBody>
                    <a:bodyPr/>
                    <a:lstStyle/>
                    <a:p>
                      <a:pPr indent="0" lvl="0" marL="0" rtl="0" algn="l">
                        <a:spcBef>
                          <a:spcPts val="0"/>
                        </a:spcBef>
                        <a:spcAft>
                          <a:spcPts val="0"/>
                        </a:spcAft>
                        <a:buNone/>
                      </a:pPr>
                      <a:r>
                        <a:rPr lang="en-GB" sz="1000">
                          <a:highlight>
                            <a:srgbClr val="FF0000"/>
                          </a:highlight>
                        </a:rPr>
                        <a:t>Poor</a:t>
                      </a:r>
                      <a:endParaRPr sz="1000">
                        <a:highlight>
                          <a:srgbClr val="FF0000"/>
                        </a:highlight>
                      </a:endParaRPr>
                    </a:p>
                  </a:txBody>
                  <a:tcPr marT="91425" marB="91425" marR="91425" marL="91425"/>
                </a:tc>
                <a:tc>
                  <a:txBody>
                    <a:bodyPr/>
                    <a:lstStyle/>
                    <a:p>
                      <a:pPr indent="0" lvl="0" marL="0" rtl="0" algn="l">
                        <a:spcBef>
                          <a:spcPts val="0"/>
                        </a:spcBef>
                        <a:spcAft>
                          <a:spcPts val="0"/>
                        </a:spcAft>
                        <a:buNone/>
                      </a:pPr>
                      <a:r>
                        <a:rPr lang="en-GB" sz="1000"/>
                        <a:t>Unsuitable; fails in short-term forecasting for liquidity ratios</a:t>
                      </a:r>
                      <a:endParaRPr sz="1000"/>
                    </a:p>
                  </a:txBody>
                  <a:tcPr marT="91425" marB="91425" marR="91425" marL="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id="395" name="Google Shape;395;p45"/>
          <p:cNvPicPr preferRelativeResize="0"/>
          <p:nvPr/>
        </p:nvPicPr>
        <p:blipFill>
          <a:blip r:embed="rId3">
            <a:alphaModFix/>
          </a:blip>
          <a:stretch>
            <a:fillRect/>
          </a:stretch>
        </p:blipFill>
        <p:spPr>
          <a:xfrm>
            <a:off x="0" y="0"/>
            <a:ext cx="9144000" cy="5143500"/>
          </a:xfrm>
          <a:prstGeom prst="rect">
            <a:avLst/>
          </a:prstGeom>
          <a:noFill/>
          <a:ln>
            <a:noFill/>
          </a:ln>
        </p:spPr>
      </p:pic>
      <p:sp>
        <p:nvSpPr>
          <p:cNvPr id="396" name="Google Shape;396;p45"/>
          <p:cNvSpPr txBox="1"/>
          <p:nvPr>
            <p:ph idx="1" type="body"/>
          </p:nvPr>
        </p:nvSpPr>
        <p:spPr>
          <a:xfrm>
            <a:off x="1196150" y="2472350"/>
            <a:ext cx="7172100" cy="11334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GB" sz="3300"/>
              <a:t>Thanks for Your Attention！</a:t>
            </a:r>
            <a:endParaRPr sz="33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